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91e6fcc34c4b0e" /><Relationship Type="http://schemas.openxmlformats.org/officeDocument/2006/relationships/extended-properties" Target="/docProps/app.xml" Id="R0d374d94d5c74e11" /><Relationship Type="http://schemas.openxmlformats.org/officeDocument/2006/relationships/officeDocument" Target="/ppt/presentation.xml" Id="Rca2de65d3df64c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f3c0214bd9402c"/>
  </p:sldMasterIdLst>
  <p:notesMasterIdLst>
    <p:notesMasterId xmlns:r="http://schemas.openxmlformats.org/officeDocument/2006/relationships" r:id="Ra6ce524ee1894dc8"/>
  </p:notesMasterIdLst>
  <p:sldIdLst>
    <p:sldId xmlns:r="http://schemas.openxmlformats.org/officeDocument/2006/relationships" id="256" r:id="R4326fe4cd4194bbb"/>
  </p:sldIdLst>
  <p:sldSz cx="21396325" cy="30267275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f4d1c5d7174c79" /><Relationship Type="http://schemas.openxmlformats.org/officeDocument/2006/relationships/slideMaster" Target="/ppt/slideMasters/slideMaster1.xml" Id="Rf5f3c0214bd9402c" /><Relationship Type="http://schemas.openxmlformats.org/officeDocument/2006/relationships/notesMaster" Target="/ppt/notesMasters/notesMaster1.xml" Id="Ra6ce524ee1894dc8" /><Relationship Type="http://schemas.openxmlformats.org/officeDocument/2006/relationships/presProps" Target="/ppt/presProps.xml" Id="R315aef76be584eac" /><Relationship Type="http://schemas.openxmlformats.org/officeDocument/2006/relationships/viewProps" Target="/ppt/viewProps.xml" Id="Rdd8d8f0331694129" /><Relationship Type="http://schemas.openxmlformats.org/officeDocument/2006/relationships/tableStyles" Target="/ppt/tableStyles.xml" Id="R5aedc2b6fb10435e" /><Relationship Type="http://schemas.openxmlformats.org/officeDocument/2006/relationships/slide" Target="/ppt/slides/slide1.xml" Id="R4326fe4cd4194b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893a15edd34a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e67a19abe24c96" /><Relationship Type="http://schemas.openxmlformats.org/officeDocument/2006/relationships/notesMaster" Target="/ppt/notesMasters/notesMaster1.xml" Id="Rec3a4a8cc25e49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 sources:</a:t>
            </a:r>
          </a:p>
          <a:p xmlns:a="http://schemas.openxmlformats.org/drawingml/2006/main">
            <a:r>
              <a:t>- docs/archive/参数消融汇报材料.md</a:t>
            </a:r>
          </a:p>
          <a:p xmlns:a="http://schemas.openxmlformats.org/drawingml/2006/main">
            <a:r>
              <a:t>- docs/archive/结构消融汇报材料.md</a:t>
            </a:r>
          </a:p>
          <a:p xmlns:a="http://schemas.openxmlformats.org/drawingml/2006/main">
            <a:r>
              <a:t>- docs/progress/25_偏差罚金合同审计与重训练.md</a:t>
            </a:r>
          </a:p>
          <a:p xmlns:a="http://schemas.openxmlformats.org/drawingml/2006/main">
            <a:r>
              <a:t>- docs/progress/38_四市场起报合同与缓存隔离修正.md</a:t>
            </a:r>
          </a:p>
          <a:p xmlns:a="http://schemas.openxmlformats.org/drawingml/2006/main">
            <a:r>
              <a:t>- docs/progress/46_多节点结果口径修订与无ID通用模型路线.md</a:t>
            </a:r>
          </a:p>
          <a:p xmlns:a="http://schemas.openxmlformats.org/drawingml/2006/main">
            <a:r>
              <a:t>- docs/progress/54_2025一次性锁定测试最终结论.md</a:t>
            </a:r>
          </a:p>
          <a:p xmlns:a="http://schemas.openxmlformats.org/drawingml/2006/main">
            <a:r>
              <a:t>- docs/progress/93_全阶段研究流程总览.md</a:t>
            </a:r>
          </a:p>
          <a:p xmlns:a="http://schemas.openxmlformats.org/drawingml/2006/main">
            <a:r>
              <a:t>- docs/progress/94_Chronos2尾部后训练探索统一结论.md</a:t>
            </a:r>
          </a:p>
          <a:p xmlns:a="http://schemas.openxmlformats.org/drawingml/2006/main">
            <a:r>
              <a:t>- data/results/tail_expert_router_v1/followup_2025_audit_v1.json</a:t>
            </a:r>
          </a:p>
          <a:p xmlns:a="http://schemas.openxmlformats.org/drawingml/2006/main">
            <a:r>
              <a:t>Design references:</a:t>
            </a:r>
          </a:p>
          <a:p xmlns:a="http://schemas.openxmlformats.org/drawingml/2006/main">
            <a:r>
              <a:t>- https://neurips.cc/virtual/2024/poster/95120</a:t>
            </a:r>
          </a:p>
          <a:p xmlns:a="http://schemas.openxmlformats.org/drawingml/2006/main">
            <a:r>
              <a:t>- https://neurips.cc/virtual/2024/106275</a:t>
            </a:r>
          </a:p>
          <a:p xmlns:a="http://schemas.openxmlformats.org/drawingml/2006/main">
            <a:r>
              <a:t>- https://cvpr.thecvf.com/virtual/2024/poster/30350</a:t>
            </a:r>
          </a:p>
          <a:p xmlns:a="http://schemas.openxmlformats.org/drawingml/2006/main">
            <a:r>
              <a:t>- https://cvpr.thecvf.com/virtual/2024/poster/29230</a:t>
            </a:r>
          </a:p>
          <a:p xmlns:a="http://schemas.openxmlformats.org/drawingml/2006/main">
            <a:r>
              <a:t>A1 typography guidance:</a:t>
            </a:r>
          </a:p>
          <a:p xmlns:a="http://schemas.openxmlformats.org/drawingml/2006/main">
            <a:r>
              <a:t>- https://www.ctl.ox.ac.uk/guidelines-for-submissions</a:t>
            </a:r>
          </a:p>
          <a:p xmlns:a="http://schemas.openxmlformats.org/drawingml/2006/main">
            <a:r>
              <a:t>- https://library.port.ac.uk/academic-support/presentations-and-group-work/academic-posters</a:t>
            </a:r>
          </a:p>
          <a:p xmlns:a="http://schemas.openxmlformats.org/drawingml/2006/main">
            <a:r>
              <a:t>- https://libguides.shu.ac.uk/researchposters/style</a:t>
            </a:r>
          </a:p>
          <a:p xmlns:a="http://schemas.openxmlformats.org/drawingml/2006/main">
            <a:r>
              <a:t>The router is a post-original-test fixed follow-up. No further 2025 tuning is allowed. Profit claims outside ERCOT remain limited by local settlement-contract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2207c00f2748e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c06f2ff46e498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84b786ecc947a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d4839925014e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8227ad9e91443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d099169171454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b8ddca1a4346d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c0c9ea0be44c6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8298333f284f7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4107cd21a14cf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a3181e1e3b49f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81CEAB-E428-4DC4-AC30-E6C72ADE892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604725" y="4953466"/>
            <a:ext cx="18186876" cy="10537496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14039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BBB64D7-085B-4633-AF42-4BCD166729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74541" y="15897328"/>
            <a:ext cx="16047244" cy="7307583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5616"/>
            </a:lvl1pPr>
            <a:lvl2pPr marL="1069802" indent="0" algn="ctr">
              <a:buNone/>
              <a:defRPr sz="4680"/>
            </a:lvl2pPr>
            <a:lvl3pPr marL="2139605" indent="0" algn="ctr">
              <a:buNone/>
              <a:defRPr sz="4212"/>
            </a:lvl3pPr>
            <a:lvl4pPr marL="3209407" indent="0" algn="ctr">
              <a:buNone/>
              <a:defRPr sz="3744"/>
            </a:lvl4pPr>
            <a:lvl5pPr marL="4279209" indent="0" algn="ctr">
              <a:buNone/>
              <a:defRPr sz="3744"/>
            </a:lvl5pPr>
            <a:lvl6pPr marL="5349011" indent="0" algn="ctr">
              <a:buNone/>
              <a:defRPr sz="3744"/>
            </a:lvl6pPr>
            <a:lvl7pPr marL="6418814" indent="0" algn="ctr">
              <a:buNone/>
              <a:defRPr sz="3744"/>
            </a:lvl7pPr>
            <a:lvl8pPr marL="7488616" indent="0" algn="ctr">
              <a:buNone/>
              <a:defRPr sz="3744"/>
            </a:lvl8pPr>
            <a:lvl9pPr marL="8558418" indent="0" algn="ctr">
              <a:buNone/>
              <a:defRPr sz="3744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D4E80D-30F9-4926-B20F-2282DD056D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50DC1AB-DFEF-4E69-ADD9-F403144A7515}" type="datetimeFigureOut">
              <a:t>9/29/2026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65AD992-DA8B-4A72-8893-66A4B7E8C3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7FFB02A-3B1E-4547-8AD9-9266E244EC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281B15A-DE7C-4788-BA75-459772D4CA7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C254C0-C784-424F-891E-53FCCEAFEB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136258B-5342-46AA-92AE-4A8AB0FF1E4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1A9D88B-4F5C-40D1-8B7F-D5D927D966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50DC1AB-DFEF-4E69-ADD9-F403144A7515}" type="datetimeFigureOut">
              <a:t>9/29/2026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20C6C0-2532-401F-B653-39DC26495D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E91562-0964-4D97-880D-BEF9F5D946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281B15A-DE7C-4788-BA75-459772D4CA7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D5280FC-5253-426D-95AA-56F29CEAA1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59855" y="7545809"/>
            <a:ext cx="18454330" cy="12590343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14039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A157242-0D5C-4316-8683-DA2C2E6705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459855" y="20255262"/>
            <a:ext cx="18454330" cy="6620964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5616">
                <a:solidFill>
                  <a:schemeClr val="tx1"/>
                </a:solidFill>
              </a:defRPr>
            </a:lvl1pPr>
            <a:lvl2pPr marL="1069802" indent="0">
              <a:buNone/>
              <a:defRPr sz="4680">
                <a:solidFill>
                  <a:schemeClr val="tx1">
                    <a:tint val="75000"/>
                  </a:schemeClr>
                </a:solidFill>
              </a:defRPr>
            </a:lvl2pPr>
            <a:lvl3pPr marL="2139605" indent="0">
              <a:buNone/>
              <a:defRPr sz="4212">
                <a:solidFill>
                  <a:schemeClr val="tx1">
                    <a:tint val="75000"/>
                  </a:schemeClr>
                </a:solidFill>
              </a:defRPr>
            </a:lvl3pPr>
            <a:lvl4pPr marL="3209407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4pPr>
            <a:lvl5pPr marL="4279209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5pPr>
            <a:lvl6pPr marL="5349011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6pPr>
            <a:lvl7pPr marL="6418814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7pPr>
            <a:lvl8pPr marL="7488616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8pPr>
            <a:lvl9pPr marL="8558418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6F4AA41-510E-4A18-A17D-B690DFAD0C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50DC1AB-DFEF-4E69-ADD9-F403144A7515}" type="datetimeFigureOut">
              <a:t>9/29/2026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A55FFEA-4EFA-4F4D-91CF-F29219C9A6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CF94FD1-4148-48AE-BFB2-89C7815738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281B15A-DE7C-4788-BA75-459772D4CA7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54421AA-EB36-49AF-B8F9-72FB330197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8D8A0F3-750A-4839-85DD-3F5ADA21387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470997" y="8057261"/>
            <a:ext cx="9093438" cy="1920430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3703750-BE0B-4387-A7F6-D8D4F9C08BB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0831890" y="8057261"/>
            <a:ext cx="9093438" cy="1920430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C63F153-26F7-4A01-B73E-AD5CBEBCD6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50DC1AB-DFEF-4E69-ADD9-F403144A7515}" type="datetimeFigureOut">
              <a:t>9/29/2026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EFD09E8-183D-47D1-A184-D7B920F7CA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A7FD0A4-2389-4CE5-94A7-B353199A01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281B15A-DE7C-4788-BA75-459772D4CA7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FD0F9D-261E-47E0-91F5-D08E073CAB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73784" y="1611459"/>
            <a:ext cx="18454330" cy="58502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0C56534-DC38-4F14-A59A-48BDF8571D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473787" y="7419688"/>
            <a:ext cx="9051647" cy="3636275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5616" b="1"/>
            </a:lvl1pPr>
            <a:lvl2pPr marL="1069802" indent="0">
              <a:buNone/>
              <a:defRPr sz="4680" b="1"/>
            </a:lvl2pPr>
            <a:lvl3pPr marL="2139605" indent="0">
              <a:buNone/>
              <a:defRPr sz="4212" b="1"/>
            </a:lvl3pPr>
            <a:lvl4pPr marL="3209407" indent="0">
              <a:buNone/>
              <a:defRPr sz="3744" b="1"/>
            </a:lvl4pPr>
            <a:lvl5pPr marL="4279209" indent="0">
              <a:buNone/>
              <a:defRPr sz="3744" b="1"/>
            </a:lvl5pPr>
            <a:lvl6pPr marL="5349011" indent="0">
              <a:buNone/>
              <a:defRPr sz="3744" b="1"/>
            </a:lvl6pPr>
            <a:lvl7pPr marL="6418814" indent="0">
              <a:buNone/>
              <a:defRPr sz="3744" b="1"/>
            </a:lvl7pPr>
            <a:lvl8pPr marL="7488616" indent="0">
              <a:buNone/>
              <a:defRPr sz="3744" b="1"/>
            </a:lvl8pPr>
            <a:lvl9pPr marL="8558418" indent="0">
              <a:buNone/>
              <a:defRPr sz="3744" b="1"/>
            </a:lvl9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A48B050-0981-45DD-9866-B4B8F5D0E6D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73787" y="11055963"/>
            <a:ext cx="9051647" cy="162616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0CBC03A-34E7-410C-8D4C-497B2604978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0831891" y="7419688"/>
            <a:ext cx="9096225" cy="3636275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5616" b="1"/>
            </a:lvl1pPr>
            <a:lvl2pPr marL="1069802" indent="0">
              <a:buNone/>
              <a:defRPr sz="4680" b="1"/>
            </a:lvl2pPr>
            <a:lvl3pPr marL="2139605" indent="0">
              <a:buNone/>
              <a:defRPr sz="4212" b="1"/>
            </a:lvl3pPr>
            <a:lvl4pPr marL="3209407" indent="0">
              <a:buNone/>
              <a:defRPr sz="3744" b="1"/>
            </a:lvl4pPr>
            <a:lvl5pPr marL="4279209" indent="0">
              <a:buNone/>
              <a:defRPr sz="3744" b="1"/>
            </a:lvl5pPr>
            <a:lvl6pPr marL="5349011" indent="0">
              <a:buNone/>
              <a:defRPr sz="3744" b="1"/>
            </a:lvl6pPr>
            <a:lvl7pPr marL="6418814" indent="0">
              <a:buNone/>
              <a:defRPr sz="3744" b="1"/>
            </a:lvl7pPr>
            <a:lvl8pPr marL="7488616" indent="0">
              <a:buNone/>
              <a:defRPr sz="3744" b="1"/>
            </a:lvl8pPr>
            <a:lvl9pPr marL="8558418" indent="0">
              <a:buNone/>
              <a:defRPr sz="3744" b="1"/>
            </a:lvl9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5332ADB-02E3-4449-9944-6B474F4CFCB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0831891" y="11055963"/>
            <a:ext cx="9096225" cy="162616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F2639CD-7C2D-4501-92D7-688496A968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50DC1AB-DFEF-4E69-ADD9-F403144A7515}" type="datetimeFigureOut">
              <a:t>9/29/2026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1919BF8-3019-4A8A-8C11-EB25180CF3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C46BF59-D5F4-4107-B191-A58276FE6A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281B15A-DE7C-4788-BA75-459772D4CA7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9BA529-366E-4302-84F8-DBA2E80EBF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80E22AB-7C97-40B5-9652-FDAD782F97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50DC1AB-DFEF-4E69-ADD9-F403144A7515}" type="datetimeFigureOut">
              <a:t>9/29/2026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3562252-572F-490D-B88D-92A7596E7B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8A3975D-784C-46C5-A78B-ED098E1003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281B15A-DE7C-4788-BA75-459772D4CA7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0C1722E-798A-459E-B767-302DE9AE4D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50DC1AB-DFEF-4E69-ADD9-F403144A7515}" type="datetimeFigureOut">
              <a:t>9/29/2026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37BD76D-ACEB-471A-9A94-788D369D74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0D0BD34-7203-4F73-BC2E-37919B2997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281B15A-DE7C-4788-BA75-459772D4CA7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EF1041-159A-4710-8101-DF866B796F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73784" y="2017818"/>
            <a:ext cx="6900872" cy="7062364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7488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C83816F-099E-49EA-8AAC-F9B5E7E9E20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096225" y="4357934"/>
            <a:ext cx="10831890" cy="2150938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488"/>
            </a:lvl1pPr>
            <a:lvl2pPr>
              <a:buNone/>
              <a:defRPr sz="6552"/>
            </a:lvl2pPr>
            <a:lvl3pPr>
              <a:buNone/>
              <a:defRPr sz="5616"/>
            </a:lvl3pPr>
            <a:lvl4pPr>
              <a:buNone/>
              <a:defRPr sz="4680"/>
            </a:lvl4pPr>
            <a:lvl5pPr>
              <a:buNone/>
              <a:defRPr sz="4680"/>
            </a:lvl5pPr>
            <a:lvl6pPr>
              <a:buNone/>
              <a:defRPr sz="4680"/>
            </a:lvl6pPr>
            <a:lvl7pPr>
              <a:buNone/>
              <a:defRPr sz="4680"/>
            </a:lvl7pPr>
            <a:lvl8pPr>
              <a:buNone/>
              <a:defRPr sz="4680"/>
            </a:lvl8pPr>
            <a:lvl9pPr>
              <a:buNone/>
              <a:defRPr sz="4680"/>
            </a:lvl9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646D6B4-66B5-421D-A7EA-696BA0F567E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473784" y="9080183"/>
            <a:ext cx="6900872" cy="1682216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744"/>
            </a:lvl1pPr>
            <a:lvl2pPr marL="1069802" indent="0">
              <a:buNone/>
              <a:defRPr sz="3276"/>
            </a:lvl2pPr>
            <a:lvl3pPr marL="2139605" indent="0">
              <a:buNone/>
              <a:defRPr sz="2808"/>
            </a:lvl3pPr>
            <a:lvl4pPr marL="3209407" indent="0">
              <a:buNone/>
              <a:defRPr sz="2340"/>
            </a:lvl4pPr>
            <a:lvl5pPr marL="4279209" indent="0">
              <a:buNone/>
              <a:defRPr sz="2340"/>
            </a:lvl5pPr>
            <a:lvl6pPr marL="5349011" indent="0">
              <a:buNone/>
              <a:defRPr sz="2340"/>
            </a:lvl6pPr>
            <a:lvl7pPr marL="6418814" indent="0">
              <a:buNone/>
              <a:defRPr sz="2340"/>
            </a:lvl7pPr>
            <a:lvl8pPr marL="7488616" indent="0">
              <a:buNone/>
              <a:defRPr sz="2340"/>
            </a:lvl8pPr>
            <a:lvl9pPr marL="8558418" indent="0">
              <a:buNone/>
              <a:defRPr sz="2340"/>
            </a:lvl9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847A7E2-3840-4A8B-ACFC-547C8C4468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50DC1AB-DFEF-4E69-ADD9-F403144A7515}" type="datetimeFigureOut">
              <a:t>9/29/2026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7AC91CC-E4CE-4B09-8F35-52B1B49C88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B87D322-9B24-400C-821A-5CFAED1E2F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281B15A-DE7C-4788-BA75-459772D4CA7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8F94B5-4AB3-4027-9697-39D694B521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73784" y="2017818"/>
            <a:ext cx="6900872" cy="7062364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7488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88C1B2B-A295-4997-9D11-4BAF6DA2378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9096225" y="4357934"/>
            <a:ext cx="10831890" cy="21509383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7488"/>
            </a:lvl1pPr>
            <a:lvl2pPr marL="1069802" indent="0">
              <a:buNone/>
              <a:defRPr sz="6552"/>
            </a:lvl2pPr>
            <a:lvl3pPr marL="2139605" indent="0">
              <a:buNone/>
              <a:defRPr sz="5616"/>
            </a:lvl3pPr>
            <a:lvl4pPr marL="3209407" indent="0">
              <a:buNone/>
              <a:defRPr sz="4680"/>
            </a:lvl4pPr>
            <a:lvl5pPr marL="4279209" indent="0">
              <a:buNone/>
              <a:defRPr sz="4680"/>
            </a:lvl5pPr>
            <a:lvl6pPr marL="5349011" indent="0">
              <a:buNone/>
              <a:defRPr sz="4680"/>
            </a:lvl6pPr>
            <a:lvl7pPr marL="6418814" indent="0">
              <a:buNone/>
              <a:defRPr sz="4680"/>
            </a:lvl7pPr>
            <a:lvl8pPr marL="7488616" indent="0">
              <a:buNone/>
              <a:defRPr sz="4680"/>
            </a:lvl8pPr>
            <a:lvl9pPr marL="8558418" indent="0">
              <a:buNone/>
              <a:defRPr sz="468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A81BE13-75D3-43CB-AF97-2EA980C229D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473784" y="9080183"/>
            <a:ext cx="6900872" cy="1682216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744"/>
            </a:lvl1pPr>
            <a:lvl2pPr marL="1069802" indent="0">
              <a:buNone/>
              <a:defRPr sz="3276"/>
            </a:lvl2pPr>
            <a:lvl3pPr marL="2139605" indent="0">
              <a:buNone/>
              <a:defRPr sz="2808"/>
            </a:lvl3pPr>
            <a:lvl4pPr marL="3209407" indent="0">
              <a:buNone/>
              <a:defRPr sz="2340"/>
            </a:lvl4pPr>
            <a:lvl5pPr marL="4279209" indent="0">
              <a:buNone/>
              <a:defRPr sz="2340"/>
            </a:lvl5pPr>
            <a:lvl6pPr marL="5349011" indent="0">
              <a:buNone/>
              <a:defRPr sz="2340"/>
            </a:lvl6pPr>
            <a:lvl7pPr marL="6418814" indent="0">
              <a:buNone/>
              <a:defRPr sz="2340"/>
            </a:lvl7pPr>
            <a:lvl8pPr marL="7488616" indent="0">
              <a:buNone/>
              <a:defRPr sz="2340"/>
            </a:lvl8pPr>
            <a:lvl9pPr marL="8558418" indent="0">
              <a:buNone/>
              <a:defRPr sz="2340"/>
            </a:lvl9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F65E638-61A9-41C9-9979-F655DA8857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50DC1AB-DFEF-4E69-ADD9-F403144A7515}" type="datetimeFigureOut">
              <a:t>9/29/2026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8DA0D43-CDD0-425B-AD9A-4D8B3433AF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7ACA564-AF53-4CBE-B874-ED643056D4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281B15A-DE7C-4788-BA75-459772D4CA7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45E0B4B-17AC-4E59-95C4-9D6EA5B48E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E2B62D3-7CAE-4A1C-8DDE-6A3A59DE62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7F45FA0-5619-4FCB-B0CD-B390006B6D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50DC1AB-DFEF-4E69-ADD9-F403144A7515}" type="datetimeFigureOut">
              <a:t>9/29/2026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A1625C7-3507-4F06-9F84-67B0FE80FB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51FDB3F-8CA7-4429-8824-C0BD1F376A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281B15A-DE7C-4788-BA75-459772D4CA7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DA6ECAE-F614-4C36-9975-6D29DE9BE6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311746" y="1611452"/>
            <a:ext cx="4613583" cy="25650117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8826B52-B538-403E-8742-8068F6D677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470998" y="1611452"/>
            <a:ext cx="13573294" cy="25650117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015C1E2-5030-4200-AC9F-66A36BE329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50DC1AB-DFEF-4E69-ADD9-F403144A7515}" type="datetimeFigureOut">
              <a:t>9/29/2026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EC02D18-E032-41AE-9EB4-08607B4714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AA410A-1C9A-422A-8DF7-413DE0F0E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281B15A-DE7C-4788-BA75-459772D4CA7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1136de6fc5444d" /><Relationship Type="http://schemas.openxmlformats.org/officeDocument/2006/relationships/slideLayout" Target="/ppt/slideLayouts/slideLayout1.xml" Id="Rb5f18049bcb1429c" /><Relationship Type="http://schemas.openxmlformats.org/officeDocument/2006/relationships/slideLayout" Target="/ppt/slideLayouts/slideLayout2.xml" Id="R7e24a8b6a8da4c33" /><Relationship Type="http://schemas.openxmlformats.org/officeDocument/2006/relationships/slideLayout" Target="/ppt/slideLayouts/slideLayout3.xml" Id="Rdf24144e73134934" /><Relationship Type="http://schemas.openxmlformats.org/officeDocument/2006/relationships/slideLayout" Target="/ppt/slideLayouts/slideLayout4.xml" Id="R5909ad5abd2141d7" /><Relationship Type="http://schemas.openxmlformats.org/officeDocument/2006/relationships/slideLayout" Target="/ppt/slideLayouts/slideLayout5.xml" Id="R5b18fdd19ca7475f" /><Relationship Type="http://schemas.openxmlformats.org/officeDocument/2006/relationships/slideLayout" Target="/ppt/slideLayouts/slideLayout6.xml" Id="R20d26877331a401c" /><Relationship Type="http://schemas.openxmlformats.org/officeDocument/2006/relationships/slideLayout" Target="/ppt/slideLayouts/slideLayout7.xml" Id="R92036161a0814d9d" /><Relationship Type="http://schemas.openxmlformats.org/officeDocument/2006/relationships/slideLayout" Target="/ppt/slideLayouts/slideLayout8.xml" Id="R201ba1b39f374d68" /><Relationship Type="http://schemas.openxmlformats.org/officeDocument/2006/relationships/slideLayout" Target="/ppt/slideLayouts/slideLayout9.xml" Id="R4abee840acc74ce7" /><Relationship Type="http://schemas.openxmlformats.org/officeDocument/2006/relationships/slideLayout" Target="/ppt/slideLayouts/slideLayout10.xml" Id="Rfb0da582c10144ca" /><Relationship Type="http://schemas.openxmlformats.org/officeDocument/2006/relationships/slideLayout" Target="/ppt/slideLayouts/slideLayout11.xml" Id="R5250eaf249fb4e5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C1DE692-AA73-41FD-8BC4-A2463667F5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70998" y="1611459"/>
            <a:ext cx="18454330" cy="58502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93AB23C-CFF8-48A3-87AD-6F4F04B749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470998" y="8057261"/>
            <a:ext cx="18454330" cy="192043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0A058C8-19D1-433B-963F-07043C83382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1470997" y="28053287"/>
            <a:ext cx="4814173" cy="16114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2808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50DC1AB-DFEF-4E69-ADD9-F403144A7515}" type="datetimeFigureOut">
              <a:t>9/29/2026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B13449D-057C-415E-B198-FA23C12114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7087533" y="28053287"/>
            <a:ext cx="7221260" cy="16114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2808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10C3B7A-E803-4558-84E1-8E47C131CEA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5111155" y="28053287"/>
            <a:ext cx="4814173" cy="16114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2808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281B15A-DE7C-4788-BA75-459772D4CA7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f18049bcb1429c"/>
    <p:sldLayoutId xmlns:r="http://schemas.openxmlformats.org/officeDocument/2006/relationships" id="2147483650" r:id="R7e24a8b6a8da4c33"/>
    <p:sldLayoutId xmlns:r="http://schemas.openxmlformats.org/officeDocument/2006/relationships" id="2147483651" r:id="Rdf24144e73134934"/>
    <p:sldLayoutId xmlns:r="http://schemas.openxmlformats.org/officeDocument/2006/relationships" id="2147483652" r:id="R5909ad5abd2141d7"/>
    <p:sldLayoutId xmlns:r="http://schemas.openxmlformats.org/officeDocument/2006/relationships" id="2147483653" r:id="R5b18fdd19ca7475f"/>
    <p:sldLayoutId xmlns:r="http://schemas.openxmlformats.org/officeDocument/2006/relationships" id="2147483654" r:id="R20d26877331a401c"/>
    <p:sldLayoutId xmlns:r="http://schemas.openxmlformats.org/officeDocument/2006/relationships" id="2147483655" r:id="R92036161a0814d9d"/>
    <p:sldLayoutId xmlns:r="http://schemas.openxmlformats.org/officeDocument/2006/relationships" id="2147483656" r:id="R201ba1b39f374d68"/>
    <p:sldLayoutId xmlns:r="http://schemas.openxmlformats.org/officeDocument/2006/relationships" id="2147483657" r:id="R4abee840acc74ce7"/>
    <p:sldLayoutId xmlns:r="http://schemas.openxmlformats.org/officeDocument/2006/relationships" id="2147483658" r:id="Rfb0da582c10144ca"/>
    <p:sldLayoutId xmlns:r="http://schemas.openxmlformats.org/officeDocument/2006/relationships" id="2147483659" r:id="R5250eaf249fb4e5e"/>
  </p:sldLayoutIdLst>
  <p:txStyles>
    <p:titleStyle>
      <a:lvl1pPr xmlns:a="http://schemas.openxmlformats.org/drawingml/2006/main" algn="l" defTabSz="2139605">
        <a:lnSpc>
          <a:spcPct val="90000"/>
        </a:lnSpc>
        <a:spcBef>
          <a:spcPct val="0"/>
        </a:spcBef>
        <a:buNone/>
        <a:defRPr sz="10296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534901" indent="-534901" algn="l" defTabSz="2139605">
        <a:lnSpc>
          <a:spcPct val="90000"/>
        </a:lnSpc>
        <a:spcBef>
          <a:spcPts val="2340"/>
        </a:spcBef>
        <a:buFont typeface="Arial"/>
        <a:buChar char="•"/>
        <a:defRPr sz="6552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1604703" indent="-534901" algn="l" defTabSz="2139605">
        <a:lnSpc>
          <a:spcPct val="90000"/>
        </a:lnSpc>
        <a:spcBef>
          <a:spcPts val="1170"/>
        </a:spcBef>
        <a:buFont typeface="Arial"/>
        <a:buChar char="•"/>
        <a:defRPr sz="5616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2674506" indent="-534901" algn="l" defTabSz="2139605">
        <a:lnSpc>
          <a:spcPct val="90000"/>
        </a:lnSpc>
        <a:spcBef>
          <a:spcPts val="1170"/>
        </a:spcBef>
        <a:buFont typeface="Arial"/>
        <a:buChar char="•"/>
        <a:defRPr sz="468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3744308" indent="-534901" algn="l" defTabSz="2139605">
        <a:lnSpc>
          <a:spcPct val="90000"/>
        </a:lnSpc>
        <a:spcBef>
          <a:spcPts val="1170"/>
        </a:spcBef>
        <a:buFont typeface="Arial"/>
        <a:buChar char="•"/>
        <a:defRPr sz="4212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4814110" indent="-534901" algn="l" defTabSz="2139605">
        <a:lnSpc>
          <a:spcPct val="90000"/>
        </a:lnSpc>
        <a:spcBef>
          <a:spcPts val="1170"/>
        </a:spcBef>
        <a:buFont typeface="Arial"/>
        <a:buChar char="•"/>
        <a:defRPr sz="4212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5883913" indent="-534901" algn="l" defTabSz="2139605">
        <a:lnSpc>
          <a:spcPct val="90000"/>
        </a:lnSpc>
        <a:spcBef>
          <a:spcPts val="1170"/>
        </a:spcBef>
        <a:buFont typeface="Arial"/>
        <a:buChar char="•"/>
        <a:defRPr sz="4212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6953715" indent="-534901" algn="l" defTabSz="2139605">
        <a:lnSpc>
          <a:spcPct val="90000"/>
        </a:lnSpc>
        <a:spcBef>
          <a:spcPts val="1170"/>
        </a:spcBef>
        <a:buFont typeface="Arial"/>
        <a:buChar char="•"/>
        <a:defRPr sz="4212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8023517" indent="-534901" algn="l" defTabSz="2139605">
        <a:lnSpc>
          <a:spcPct val="90000"/>
        </a:lnSpc>
        <a:spcBef>
          <a:spcPts val="1170"/>
        </a:spcBef>
        <a:buFont typeface="Arial"/>
        <a:buChar char="•"/>
        <a:defRPr sz="4212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9093319" indent="-534901" algn="l" defTabSz="2139605">
        <a:lnSpc>
          <a:spcPct val="90000"/>
        </a:lnSpc>
        <a:spcBef>
          <a:spcPts val="1170"/>
        </a:spcBef>
        <a:buFont typeface="Arial"/>
        <a:buChar char="•"/>
        <a:defRPr sz="4212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2139605">
        <a:buNone/>
        <a:defRPr sz="4212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1069802" algn="l" defTabSz="2139605">
        <a:buNone/>
        <a:defRPr sz="4212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2139605" algn="l" defTabSz="2139605">
        <a:buNone/>
        <a:defRPr sz="4212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3209407" algn="l" defTabSz="2139605">
        <a:buNone/>
        <a:defRPr sz="4212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4279209" algn="l" defTabSz="2139605">
        <a:buNone/>
        <a:defRPr sz="4212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5349011" algn="l" defTabSz="2139605">
        <a:buNone/>
        <a:defRPr sz="4212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6418814" algn="l" defTabSz="2139605">
        <a:buNone/>
        <a:defRPr sz="4212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7488616" algn="l" defTabSz="2139605">
        <a:buNone/>
        <a:defRPr sz="4212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8558418" algn="l" defTabSz="2139605">
        <a:buNone/>
        <a:defRPr sz="4212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3c401b0ed4290" /><Relationship Type="http://schemas.openxmlformats.org/officeDocument/2006/relationships/image" Target="/ppt/media/image.png" Id="R2aa2685da9694b80" /><Relationship Type="http://schemas.openxmlformats.org/officeDocument/2006/relationships/chart" Target="/ppt/slides/charts/chart1.xml" Id="R6419ad25b6d0473e" /><Relationship Type="http://schemas.openxmlformats.org/officeDocument/2006/relationships/chart" Target="/ppt/slides/charts/chart2.xml" Id="Rc6d3b7a3170441c7" /><Relationship Type="http://schemas.openxmlformats.org/officeDocument/2006/relationships/notesSlide" Target="/ppt/notesSlides/notesSlide1.xml" Id="R716627c16c3b46d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Revenue</c:v>
          </c:tx>
          <c:spPr>
            <a:solidFill xmlns:a="http://schemas.openxmlformats.org/drawingml/2006/main">
              <a:srgbClr val="138477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Transformer</c:v>
                </c:pt>
                <c:pt idx="1">
                  <c:v>Pooled XGB</c:v>
                </c:pt>
                <c:pt idx="2">
                  <c:v>DLinear</c:v>
                </c:pt>
                <c:pt idx="3">
                  <c:v>Static hybrid</c:v>
                </c:pt>
                <c:pt idx="4">
                  <c:v>Tail router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28.04</c:v>
                </c:pt>
                <c:pt idx="1">
                  <c:v>44.43</c:v>
                </c:pt>
                <c:pt idx="2">
                  <c:v>61.53</c:v>
                </c:pt>
                <c:pt idx="3">
                  <c:v>61.8</c:v>
                </c:pt>
                <c:pt idx="4">
                  <c:v>63.53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CCD6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1"/>
        <c:ser>
          <c:idx val="0"/>
          <c:order val="0"/>
          <c:tx>
            <c:v>Amplitude retained</c:v>
          </c:tx>
          <c:spPr>
            <a:solidFill xmlns:a="http://schemas.openxmlformats.org/drawingml/2006/main">
              <a:srgbClr val="BE3F4B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BE3F4B"/>
              </a:solidFill>
              <a:ln xmlns:a="http://schemas.openxmlformats.org/drawingml/2006/main" w="0">
                <a:solidFill>
                  <a:srgbClr val="BE3F4B"/>
                </a:solidFill>
                <a:prstDash val="solid"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DF930D"/>
              </a:solidFill>
              <a:ln xmlns:a="http://schemas.openxmlformats.org/drawingml/2006/main" w="0">
                <a:solidFill>
                  <a:srgbClr val="DF930D"/>
                </a:solidFill>
                <a:prstDash val="solid"/>
              </a:ln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 b="1">
                        <a:solidFill>
                          <a:srgbClr val="BE3F4B"/>
                        </a:solidFill>
                      </a:rPr>
                      <a:t>100%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 b="1">
                      <a:solidFill>
                        <a:srgbClr val="BE3F4B"/>
                      </a:solidFill>
                    </a:defRPr>
                  </a:pPr>
                </a:p>
              </c:txPr>
              <c:dLblPos val="outEnd"/>
              <c:showVal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 b="1">
                        <a:solidFill>
                          <a:srgbClr val="DF930D"/>
                        </a:solidFill>
                      </a:rPr>
                      <a:t>1.29%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 b="1">
                      <a:solidFill>
                        <a:srgbClr val="DF930D"/>
                      </a:solidFill>
                    </a:defRPr>
                  </a:pPr>
                </a:p>
              </c:txPr>
              <c:dLblPos val="outEnd"/>
              <c:showVal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75" b="1">
                    <a:solidFill>
                      <a:srgbClr val="102A4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Observed top 1%</c:v>
                </c:pt>
                <c:pt idx="1">
                  <c:v>Transformer forecast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100</c:v>
                </c:pt>
                <c:pt idx="1">
                  <c:v>1.29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7"/>
              </a:solidFill>
              <a:prstDash val="solid"/>
            </a:ln>
          </c:spPr>
        </c:majorGridlines>
        <c:numFmt formatCode="0'%'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71" name="">
            <a:extLst xmlns:a="http://schemas.openxmlformats.org/drawingml/2006/main">
              <a:ext uri="{FF2B5EF4-FFF2-40B4-BE49-F238E27FC236}">
                <a16:creationId xmlns:a16="http://schemas.microsoft.com/office/drawing/2014/main" id="{5AB4ED38-F1A4-464C-B580-3C35BFB285EF}"/>
              </a:ext>
            </a:extLst>
          </p:cNvPr>
          <p:cNvCxnSpPr>
            <a:stCxn xmlns:a="http://schemas.openxmlformats.org/drawingml/2006/main" id="1268" idx="2"/>
            <a:endCxn xmlns:a="http://schemas.openxmlformats.org/drawingml/2006/main" id="1269" idx="0"/>
          </p:cNvCxnSpPr>
          <p:nvPr/>
        </p:nvCxnSpPr>
        <p:spPr>
          <a:xfrm xmlns:a="http://schemas.openxmlformats.org/drawingml/2006/main" flipH="1">
            <a:off x="17478375" y="24765000"/>
            <a:ext cx="209550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69AA"/>
            </a:solidFill>
            <a:prstDash val="solid"/>
            <a:tailEnd type="triangle" w="sm" len="sm"/>
          </a:ln>
        </p:spPr>
      </p:cxnSp>
      <p:cxnSp>
        <p:nvCxnSpPr>
          <p:cNvPr id="1270" name="">
            <a:extLst xmlns:a="http://schemas.openxmlformats.org/drawingml/2006/main">
              <a:ext uri="{FF2B5EF4-FFF2-40B4-BE49-F238E27FC236}">
                <a16:creationId xmlns:a16="http://schemas.microsoft.com/office/drawing/2014/main" id="{0C43AFC0-19AD-4493-B212-B9DE680CC8A6}"/>
              </a:ext>
            </a:extLst>
          </p:cNvPr>
          <p:cNvCxnSpPr>
            <a:stCxn xmlns:a="http://schemas.openxmlformats.org/drawingml/2006/main" id="1267" idx="2"/>
            <a:endCxn xmlns:a="http://schemas.openxmlformats.org/drawingml/2006/main" id="1269" idx="0"/>
          </p:cNvCxnSpPr>
          <p:nvPr/>
        </p:nvCxnSpPr>
        <p:spPr>
          <a:xfrm xmlns:a="http://schemas.openxmlformats.org/drawingml/2006/main">
            <a:off x="15382875" y="24765000"/>
            <a:ext cx="209550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38477"/>
            </a:solidFill>
            <a:prstDash val="solid"/>
            <a:tailEnd type="triangle" w="sm" len="sm"/>
          </a:ln>
        </p:spPr>
      </p:cxnSp>
      <p:cxnSp>
        <p:nvCxnSpPr>
          <p:cNvPr id="1228" name="">
            <a:extLst xmlns:a="http://schemas.openxmlformats.org/drawingml/2006/main">
              <a:ext uri="{FF2B5EF4-FFF2-40B4-BE49-F238E27FC236}">
                <a16:creationId xmlns:a16="http://schemas.microsoft.com/office/drawing/2014/main" id="{BE42F8E1-C73E-4AA9-97E1-366E0A4B1696}"/>
              </a:ext>
            </a:extLst>
          </p:cNvPr>
          <p:cNvCxnSpPr>
            <a:stCxn xmlns:a="http://schemas.openxmlformats.org/drawingml/2006/main" id="1223" idx="3"/>
            <a:endCxn xmlns:a="http://schemas.openxmlformats.org/drawingml/2006/main" id="1224" idx="1"/>
          </p:cNvCxnSpPr>
          <p:nvPr/>
        </p:nvCxnSpPr>
        <p:spPr>
          <a:xfrm xmlns:a="http://schemas.openxmlformats.org/drawingml/2006/main">
            <a:off x="5667375" y="2101215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02A43"/>
            </a:solidFill>
            <a:prstDash val="solid"/>
            <a:tailEnd type="triangle" w="sm" len="sm"/>
          </a:ln>
        </p:spPr>
      </p:cxnSp>
      <p:cxnSp>
        <p:nvCxnSpPr>
          <p:cNvPr id="1227" name="">
            <a:extLst xmlns:a="http://schemas.openxmlformats.org/drawingml/2006/main">
              <a:ext uri="{FF2B5EF4-FFF2-40B4-BE49-F238E27FC236}">
                <a16:creationId xmlns:a16="http://schemas.microsoft.com/office/drawing/2014/main" id="{8CB7DDB4-2AE5-4F54-81BB-6EFBFB3027E4}"/>
              </a:ext>
            </a:extLst>
          </p:cNvPr>
          <p:cNvCxnSpPr>
            <a:stCxn xmlns:a="http://schemas.openxmlformats.org/drawingml/2006/main" id="1221" idx="2"/>
            <a:endCxn xmlns:a="http://schemas.openxmlformats.org/drawingml/2006/main" id="1224" idx="0"/>
          </p:cNvCxnSpPr>
          <p:nvPr/>
        </p:nvCxnSpPr>
        <p:spPr>
          <a:xfrm xmlns:a="http://schemas.openxmlformats.org/drawingml/2006/main" flipH="1">
            <a:off x="8763000" y="20212050"/>
            <a:ext cx="1176338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38477"/>
            </a:solidFill>
            <a:prstDash val="solid"/>
            <a:tailEnd type="triangle" w="sm" len="sm"/>
          </a:ln>
        </p:spPr>
      </p:cxnSp>
      <p:cxnSp>
        <p:nvCxnSpPr>
          <p:cNvPr id="1226" name="">
            <a:extLst xmlns:a="http://schemas.openxmlformats.org/drawingml/2006/main">
              <a:ext uri="{FF2B5EF4-FFF2-40B4-BE49-F238E27FC236}">
                <a16:creationId xmlns:a16="http://schemas.microsoft.com/office/drawing/2014/main" id="{1F6123D0-6BBA-45A0-9753-C2EEDBB7C2B2}"/>
              </a:ext>
            </a:extLst>
          </p:cNvPr>
          <p:cNvCxnSpPr>
            <a:stCxn xmlns:a="http://schemas.openxmlformats.org/drawingml/2006/main" id="1219" idx="2"/>
            <a:endCxn xmlns:a="http://schemas.openxmlformats.org/drawingml/2006/main" id="1223" idx="0"/>
          </p:cNvCxnSpPr>
          <p:nvPr/>
        </p:nvCxnSpPr>
        <p:spPr>
          <a:xfrm xmlns:a="http://schemas.openxmlformats.org/drawingml/2006/main" flipH="1">
            <a:off x="3619500" y="20212050"/>
            <a:ext cx="2557463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DB981B"/>
            </a:solidFill>
            <a:prstDash val="solid"/>
            <a:tailEnd type="triangle" w="sm" len="sm"/>
          </a:ln>
        </p:spPr>
      </p:cxnSp>
      <p:cxnSp>
        <p:nvCxnSpPr>
          <p:cNvPr id="1225" name="">
            <a:extLst xmlns:a="http://schemas.openxmlformats.org/drawingml/2006/main">
              <a:ext uri="{FF2B5EF4-FFF2-40B4-BE49-F238E27FC236}">
                <a16:creationId xmlns:a16="http://schemas.microsoft.com/office/drawing/2014/main" id="{15B20B70-5035-4E87-909B-98EA9E12333B}"/>
              </a:ext>
            </a:extLst>
          </p:cNvPr>
          <p:cNvCxnSpPr>
            <a:stCxn xmlns:a="http://schemas.openxmlformats.org/drawingml/2006/main" id="1217" idx="2"/>
            <a:endCxn xmlns:a="http://schemas.openxmlformats.org/drawingml/2006/main" id="1223" idx="0"/>
          </p:cNvCxnSpPr>
          <p:nvPr/>
        </p:nvCxnSpPr>
        <p:spPr>
          <a:xfrm xmlns:a="http://schemas.openxmlformats.org/drawingml/2006/main">
            <a:off x="2414588" y="20212050"/>
            <a:ext cx="1204913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5A92"/>
            </a:solidFill>
            <a:prstDash val="solid"/>
            <a:tailEnd type="triangle" w="sm" len="sm"/>
          </a:ln>
        </p:spPr>
      </p:cxnSp>
      <p:cxnSp>
        <p:nvCxnSpPr>
          <p:cNvPr id="1222" name="">
            <a:extLst xmlns:a="http://schemas.openxmlformats.org/drawingml/2006/main">
              <a:ext uri="{FF2B5EF4-FFF2-40B4-BE49-F238E27FC236}">
                <a16:creationId xmlns:a16="http://schemas.microsoft.com/office/drawing/2014/main" id="{17B61F57-B29A-45DC-AB6F-AD2CEC36D0C7}"/>
              </a:ext>
            </a:extLst>
          </p:cNvPr>
          <p:cNvCxnSpPr>
            <a:stCxn xmlns:a="http://schemas.openxmlformats.org/drawingml/2006/main" id="1210" idx="2"/>
            <a:endCxn xmlns:a="http://schemas.openxmlformats.org/drawingml/2006/main" id="1221" idx="0"/>
          </p:cNvCxnSpPr>
          <p:nvPr/>
        </p:nvCxnSpPr>
        <p:spPr>
          <a:xfrm xmlns:a="http://schemas.openxmlformats.org/drawingml/2006/main" flipH="1">
            <a:off x="9939338" y="18621375"/>
            <a:ext cx="66675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38477"/>
            </a:solidFill>
            <a:prstDash val="solid"/>
            <a:tailEnd type="triangle" w="sm" len="sm"/>
          </a:ln>
        </p:spPr>
      </p:cxnSp>
      <p:cxnSp>
        <p:nvCxnSpPr>
          <p:cNvPr id="1220" name="">
            <a:extLst xmlns:a="http://schemas.openxmlformats.org/drawingml/2006/main">
              <a:ext uri="{FF2B5EF4-FFF2-40B4-BE49-F238E27FC236}">
                <a16:creationId xmlns:a16="http://schemas.microsoft.com/office/drawing/2014/main" id="{3CC32B6B-39D2-4749-8FEB-33E4AE872855}"/>
              </a:ext>
            </a:extLst>
          </p:cNvPr>
          <p:cNvCxnSpPr>
            <a:stCxn xmlns:a="http://schemas.openxmlformats.org/drawingml/2006/main" id="1208" idx="2"/>
            <a:endCxn xmlns:a="http://schemas.openxmlformats.org/drawingml/2006/main" id="1219" idx="0"/>
          </p:cNvCxnSpPr>
          <p:nvPr/>
        </p:nvCxnSpPr>
        <p:spPr>
          <a:xfrm xmlns:a="http://schemas.openxmlformats.org/drawingml/2006/main" flipH="1">
            <a:off x="6176963" y="18621375"/>
            <a:ext cx="220980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DB981B"/>
            </a:solidFill>
            <a:prstDash val="solid"/>
            <a:tailEnd type="triangle" w="sm" len="sm"/>
          </a:ln>
        </p:spPr>
      </p:cxnSp>
      <p:cxnSp>
        <p:nvCxnSpPr>
          <p:cNvPr id="1218" name="">
            <a:extLst xmlns:a="http://schemas.openxmlformats.org/drawingml/2006/main">
              <a:ext uri="{FF2B5EF4-FFF2-40B4-BE49-F238E27FC236}">
                <a16:creationId xmlns:a16="http://schemas.microsoft.com/office/drawing/2014/main" id="{0347A0A4-386E-41E0-852F-EE64D29FBFC2}"/>
              </a:ext>
            </a:extLst>
          </p:cNvPr>
          <p:cNvCxnSpPr>
            <a:stCxn xmlns:a="http://schemas.openxmlformats.org/drawingml/2006/main" id="1206" idx="2"/>
            <a:endCxn xmlns:a="http://schemas.openxmlformats.org/drawingml/2006/main" id="1217" idx="0"/>
          </p:cNvCxnSpPr>
          <p:nvPr/>
        </p:nvCxnSpPr>
        <p:spPr>
          <a:xfrm xmlns:a="http://schemas.openxmlformats.org/drawingml/2006/main" flipH="1">
            <a:off x="2414588" y="18621375"/>
            <a:ext cx="375285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769AA"/>
            </a:solidFill>
            <a:prstDash val="solid"/>
            <a:tailEnd type="triangle" w="sm" len="sm"/>
          </a:ln>
        </p:spPr>
      </p:cxnSp>
      <p:cxnSp>
        <p:nvCxnSpPr>
          <p:cNvPr id="1216" name="">
            <a:extLst xmlns:a="http://schemas.openxmlformats.org/drawingml/2006/main">
              <a:ext uri="{FF2B5EF4-FFF2-40B4-BE49-F238E27FC236}">
                <a16:creationId xmlns:a16="http://schemas.microsoft.com/office/drawing/2014/main" id="{00A38735-846E-45D0-9FFA-B213174557D9}"/>
              </a:ext>
            </a:extLst>
          </p:cNvPr>
          <p:cNvCxnSpPr>
            <a:stCxn xmlns:a="http://schemas.openxmlformats.org/drawingml/2006/main" id="1200" idx="2"/>
            <a:endCxn xmlns:a="http://schemas.openxmlformats.org/drawingml/2006/main" id="1210" idx="0"/>
          </p:cNvCxnSpPr>
          <p:nvPr/>
        </p:nvCxnSpPr>
        <p:spPr>
          <a:xfrm xmlns:a="http://schemas.openxmlformats.org/drawingml/2006/main" flipH="1">
            <a:off x="10606088" y="16706850"/>
            <a:ext cx="47625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07D90"/>
            </a:solidFill>
            <a:prstDash val="solid"/>
            <a:tailEnd type="triangle" w="sm" len="sm"/>
          </a:ln>
        </p:spPr>
      </p:cxnSp>
      <p:cxnSp>
        <p:nvCxnSpPr>
          <p:cNvPr id="1215" name="">
            <a:extLst xmlns:a="http://schemas.openxmlformats.org/drawingml/2006/main">
              <a:ext uri="{FF2B5EF4-FFF2-40B4-BE49-F238E27FC236}">
                <a16:creationId xmlns:a16="http://schemas.microsoft.com/office/drawing/2014/main" id="{F4F0894C-696B-4757-8AA7-49099478D41A}"/>
              </a:ext>
            </a:extLst>
          </p:cNvPr>
          <p:cNvCxnSpPr>
            <a:stCxn xmlns:a="http://schemas.openxmlformats.org/drawingml/2006/main" id="1199" idx="2"/>
            <a:endCxn xmlns:a="http://schemas.openxmlformats.org/drawingml/2006/main" id="1208" idx="0"/>
          </p:cNvCxnSpPr>
          <p:nvPr/>
        </p:nvCxnSpPr>
        <p:spPr>
          <a:xfrm xmlns:a="http://schemas.openxmlformats.org/drawingml/2006/main" flipH="1">
            <a:off x="8386763" y="16706850"/>
            <a:ext cx="9525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07D90"/>
            </a:solidFill>
            <a:prstDash val="solid"/>
            <a:tailEnd type="triangle" w="sm" len="sm"/>
          </a:ln>
        </p:spPr>
      </p:cxnSp>
      <p:cxnSp>
        <p:nvCxnSpPr>
          <p:cNvPr id="1214" name="">
            <a:extLst xmlns:a="http://schemas.openxmlformats.org/drawingml/2006/main">
              <a:ext uri="{FF2B5EF4-FFF2-40B4-BE49-F238E27FC236}">
                <a16:creationId xmlns:a16="http://schemas.microsoft.com/office/drawing/2014/main" id="{BB81BDA2-E03A-406E-9DEF-8B85EA2D44B3}"/>
              </a:ext>
            </a:extLst>
          </p:cNvPr>
          <p:cNvCxnSpPr>
            <a:stCxn xmlns:a="http://schemas.openxmlformats.org/drawingml/2006/main" id="1198" idx="2"/>
            <a:endCxn xmlns:a="http://schemas.openxmlformats.org/drawingml/2006/main" id="1206" idx="0"/>
          </p:cNvCxnSpPr>
          <p:nvPr/>
        </p:nvCxnSpPr>
        <p:spPr>
          <a:xfrm xmlns:a="http://schemas.openxmlformats.org/drawingml/2006/main">
            <a:off x="6138863" y="16706850"/>
            <a:ext cx="28575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07D90"/>
            </a:solidFill>
            <a:prstDash val="solid"/>
            <a:tailEnd type="triangle" w="sm" len="sm"/>
          </a:ln>
        </p:spPr>
      </p:cxnSp>
      <p:cxnSp>
        <p:nvCxnSpPr>
          <p:cNvPr id="1213" name="">
            <a:extLst xmlns:a="http://schemas.openxmlformats.org/drawingml/2006/main">
              <a:ext uri="{FF2B5EF4-FFF2-40B4-BE49-F238E27FC236}">
                <a16:creationId xmlns:a16="http://schemas.microsoft.com/office/drawing/2014/main" id="{7BAE3C33-690D-47D2-AA31-0586EA8319CA}"/>
              </a:ext>
            </a:extLst>
          </p:cNvPr>
          <p:cNvCxnSpPr>
            <a:stCxn xmlns:a="http://schemas.openxmlformats.org/drawingml/2006/main" id="1197" idx="2"/>
            <a:endCxn xmlns:a="http://schemas.openxmlformats.org/drawingml/2006/main" id="1204" idx="0"/>
          </p:cNvCxnSpPr>
          <p:nvPr/>
        </p:nvCxnSpPr>
        <p:spPr>
          <a:xfrm xmlns:a="http://schemas.openxmlformats.org/drawingml/2006/main">
            <a:off x="3881438" y="16706850"/>
            <a:ext cx="66675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07D90"/>
            </a:solidFill>
            <a:prstDash val="solid"/>
            <a:tailEnd type="triangle" w="sm" len="sm"/>
          </a:ln>
        </p:spPr>
      </p:cxnSp>
      <p:cxnSp>
        <p:nvCxnSpPr>
          <p:cNvPr id="1212" name="">
            <a:extLst xmlns:a="http://schemas.openxmlformats.org/drawingml/2006/main">
              <a:ext uri="{FF2B5EF4-FFF2-40B4-BE49-F238E27FC236}">
                <a16:creationId xmlns:a16="http://schemas.microsoft.com/office/drawing/2014/main" id="{55298D50-A9C7-4548-B4EA-5EF7BADFEA7A}"/>
              </a:ext>
            </a:extLst>
          </p:cNvPr>
          <p:cNvCxnSpPr>
            <a:stCxn xmlns:a="http://schemas.openxmlformats.org/drawingml/2006/main" id="1196" idx="2"/>
            <a:endCxn xmlns:a="http://schemas.openxmlformats.org/drawingml/2006/main" id="1203" idx="0"/>
          </p:cNvCxnSpPr>
          <p:nvPr/>
        </p:nvCxnSpPr>
        <p:spPr>
          <a:xfrm xmlns:a="http://schemas.openxmlformats.org/drawingml/2006/main">
            <a:off x="1624013" y="16706850"/>
            <a:ext cx="104775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07D90"/>
            </a:solidFill>
            <a:prstDash val="solid"/>
            <a:tailEnd type="triangle" w="sm" len="sm"/>
          </a:ln>
        </p:spPr>
      </p:cxnSp>
      <p:cxnSp>
        <p:nvCxnSpPr>
          <p:cNvPr id="1211" name="">
            <a:extLst xmlns:a="http://schemas.openxmlformats.org/drawingml/2006/main">
              <a:ext uri="{FF2B5EF4-FFF2-40B4-BE49-F238E27FC236}">
                <a16:creationId xmlns:a16="http://schemas.microsoft.com/office/drawing/2014/main" id="{DB196965-7878-4097-9E3E-09D9659DF71E}"/>
              </a:ext>
            </a:extLst>
          </p:cNvPr>
          <p:cNvCxnSpPr>
            <a:stCxn xmlns:a="http://schemas.openxmlformats.org/drawingml/2006/main" id="1208" idx="3"/>
            <a:endCxn xmlns:a="http://schemas.openxmlformats.org/drawingml/2006/main" id="1210" idx="1"/>
          </p:cNvCxnSpPr>
          <p:nvPr/>
        </p:nvCxnSpPr>
        <p:spPr>
          <a:xfrm xmlns:a="http://schemas.openxmlformats.org/drawingml/2006/main">
            <a:off x="9363075" y="181213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02A43"/>
            </a:solidFill>
            <a:prstDash val="solid"/>
            <a:tailEnd type="triangle" w="sm" len="sm"/>
          </a:ln>
        </p:spPr>
      </p:cxnSp>
      <p:cxnSp>
        <p:nvCxnSpPr>
          <p:cNvPr id="1209" name="">
            <a:extLst xmlns:a="http://schemas.openxmlformats.org/drawingml/2006/main">
              <a:ext uri="{FF2B5EF4-FFF2-40B4-BE49-F238E27FC236}">
                <a16:creationId xmlns:a16="http://schemas.microsoft.com/office/drawing/2014/main" id="{21716D40-F117-4240-B1CB-AFF1D6353FEB}"/>
              </a:ext>
            </a:extLst>
          </p:cNvPr>
          <p:cNvCxnSpPr>
            <a:stCxn xmlns:a="http://schemas.openxmlformats.org/drawingml/2006/main" id="1206" idx="3"/>
            <a:endCxn xmlns:a="http://schemas.openxmlformats.org/drawingml/2006/main" id="1208" idx="1"/>
          </p:cNvCxnSpPr>
          <p:nvPr/>
        </p:nvCxnSpPr>
        <p:spPr>
          <a:xfrm xmlns:a="http://schemas.openxmlformats.org/drawingml/2006/main">
            <a:off x="7143750" y="181213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02A43"/>
            </a:solidFill>
            <a:prstDash val="solid"/>
            <a:tailEnd type="triangle" w="sm" len="sm"/>
          </a:ln>
        </p:spPr>
      </p:cxnSp>
      <p:cxnSp>
        <p:nvCxnSpPr>
          <p:cNvPr id="1207" name="">
            <a:extLst xmlns:a="http://schemas.openxmlformats.org/drawingml/2006/main">
              <a:ext uri="{FF2B5EF4-FFF2-40B4-BE49-F238E27FC236}">
                <a16:creationId xmlns:a16="http://schemas.microsoft.com/office/drawing/2014/main" id="{3133408C-4C37-4ED9-953B-C22633AFEF45}"/>
              </a:ext>
            </a:extLst>
          </p:cNvPr>
          <p:cNvCxnSpPr>
            <a:stCxn xmlns:a="http://schemas.openxmlformats.org/drawingml/2006/main" id="1204" idx="3"/>
            <a:endCxn xmlns:a="http://schemas.openxmlformats.org/drawingml/2006/main" id="1206" idx="1"/>
          </p:cNvCxnSpPr>
          <p:nvPr/>
        </p:nvCxnSpPr>
        <p:spPr>
          <a:xfrm xmlns:a="http://schemas.openxmlformats.org/drawingml/2006/main">
            <a:off x="4924425" y="181213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02A43"/>
            </a:solidFill>
            <a:prstDash val="solid"/>
            <a:tailEnd type="triangle" w="sm" len="sm"/>
          </a:ln>
        </p:spPr>
      </p:cxnSp>
      <p:cxnSp>
        <p:nvCxnSpPr>
          <p:cNvPr id="1205" name="">
            <a:extLst xmlns:a="http://schemas.openxmlformats.org/drawingml/2006/main">
              <a:ext uri="{FF2B5EF4-FFF2-40B4-BE49-F238E27FC236}">
                <a16:creationId xmlns:a16="http://schemas.microsoft.com/office/drawing/2014/main" id="{85427E26-58F8-40E1-823C-B567EF7E78F0}"/>
              </a:ext>
            </a:extLst>
          </p:cNvPr>
          <p:cNvCxnSpPr>
            <a:stCxn xmlns:a="http://schemas.openxmlformats.org/drawingml/2006/main" id="1203" idx="3"/>
            <a:endCxn xmlns:a="http://schemas.openxmlformats.org/drawingml/2006/main" id="1204" idx="1"/>
          </p:cNvCxnSpPr>
          <p:nvPr/>
        </p:nvCxnSpPr>
        <p:spPr>
          <a:xfrm xmlns:a="http://schemas.openxmlformats.org/drawingml/2006/main">
            <a:off x="2705100" y="181213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02A43"/>
            </a:solidFill>
            <a:prstDash val="solid"/>
            <a:tailEnd type="triangle" w="sm" len="sm"/>
          </a:ln>
        </p:spPr>
      </p:cxn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0FD14D6-8A0B-4449-9719-B5D69EC0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-280988"/>
            <a:ext cx="21396325" cy="1792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027" name="Picture 3">
            <a:extLst xmlns:a="http://schemas.openxmlformats.org/drawingml/2006/main">
              <a:ext uri="{FF2B5EF4-FFF2-40B4-BE49-F238E27FC236}">
                <a16:creationId xmlns:a16="http://schemas.microsoft.com/office/drawing/2014/main" id="{A41C442F-D6CD-4DBD-AD45-07B32DE217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a2685da9694b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5555"/>
            <a:ext cx="3308880" cy="122492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16AA891-E97B-4896-8426-F3DB06F0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13168"/>
            <a:ext cx="21396325" cy="9658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 Box 4">
            <a:extLst xmlns:a="http://schemas.openxmlformats.org/drawingml/2006/main">
              <a:ext uri="{FF2B5EF4-FFF2-40B4-BE49-F238E27FC236}">
                <a16:creationId xmlns:a16="http://schemas.microsoft.com/office/drawing/2014/main" id="{37D3D8C0-E287-4802-A19E-0FA3C1E0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7258" y="252527"/>
            <a:ext cx="6765924" cy="7252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marR="0" lvl="0" indent="0" algn="r" defTabSz="914400">
              <a:lnSpc>
                <a:spcPct val="9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 of Electrical and</a:t>
            </a:r>
            <a:endParaRPr sz="2800" b="0" i="0" u="none" strike="noStrik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r" defTabSz="914400">
              <a:lnSpc>
                <a:spcPct val="9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Electronic Engineering</a:t>
            </a:r>
            <a:endParaRPr sz="2800" b="0" i="0" u="none" strike="noStrik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0383278-A505-4022-A9A1-F7F4ADC3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0" y="29324947"/>
            <a:ext cx="15253606" cy="4457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Haochen Wang  ·  FURP Research Project  ·  2025–2026</a:t>
            </a:r>
          </a:p>
        </p:txBody>
      </p:sp>
      <p:sp>
        <p:nvSpPr>
          <p:cNvPr id="1028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DE2394AD-0375-4DB1-9BD9-A6682A40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9725"/>
            <a:ext cx="20250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590"/>
          </a:bodyPr>
          <a:lstStyle xmlns:a="http://schemas.openxmlformats.org/drawingml/2006/main">
            <a:defPPr algn="ctr">
              <a:defRPr sz="5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5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5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5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5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5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5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5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5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5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5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Decision-Aware Electricity Price Forecasting for Battery Trading</a:t>
            </a:r>
          </a:p>
        </p:txBody>
      </p:sp>
      <p:sp>
        <p:nvSpPr>
          <p:cNvPr id="1029" name="poster-subtitle">
            <a:extLst xmlns:a="http://schemas.openxmlformats.org/drawingml/2006/main">
              <a:ext uri="{FF2B5EF4-FFF2-40B4-BE49-F238E27FC236}">
                <a16:creationId xmlns:a16="http://schemas.microsoft.com/office/drawing/2014/main" id="{823CD8FA-64E7-4679-918B-C0C718D1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28900"/>
            <a:ext cx="1872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23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3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3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3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3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3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3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3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3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3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From Transformer ablations to a locked, no-ID four-market forecasting-to-control system</a:t>
            </a:r>
          </a:p>
        </p:txBody>
      </p:sp>
      <p:sp>
        <p:nvSpPr>
          <p:cNvPr id="1030" name="tldr-band">
            <a:extLst xmlns:a="http://schemas.openxmlformats.org/drawingml/2006/main">
              <a:ext uri="{FF2B5EF4-FFF2-40B4-BE49-F238E27FC236}">
                <a16:creationId xmlns:a16="http://schemas.microsoft.com/office/drawing/2014/main" id="{0EB0CF36-748C-4DD7-B2A8-EDD67F24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62300"/>
            <a:ext cx="20345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A"/>
          </a:solidFill>
          <a:ln xmlns:a="http://schemas.openxmlformats.org/drawingml/2006/main" w="13335">
            <a:solidFill>
              <a:srgbClr val="B9D8EA"/>
            </a:solidFill>
            <a:prstDash val="solid"/>
          </a:ln>
        </p:spPr>
      </p:sp>
      <p:sp>
        <p:nvSpPr>
          <p:cNvPr id="1031" name="tldr-accent">
            <a:extLst xmlns:a="http://schemas.openxmlformats.org/drawingml/2006/main">
              <a:ext uri="{FF2B5EF4-FFF2-40B4-BE49-F238E27FC236}">
                <a16:creationId xmlns:a16="http://schemas.microsoft.com/office/drawing/2014/main" id="{B1C1FBEB-C27C-4E26-8230-96D9AFF4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62300"/>
            <a:ext cx="1238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1032" name="tldr-label">
            <a:extLst xmlns:a="http://schemas.openxmlformats.org/drawingml/2006/main">
              <a:ext uri="{FF2B5EF4-FFF2-40B4-BE49-F238E27FC236}">
                <a16:creationId xmlns:a16="http://schemas.microsoft.com/office/drawing/2014/main" id="{7F9D0A5C-84CD-4679-B4E8-AD463D8E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97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TL;DR</a:t>
            </a:r>
          </a:p>
        </p:txBody>
      </p:sp>
      <p:sp>
        <p:nvSpPr>
          <p:cNvPr id="1033" name="tldr-text">
            <a:extLst xmlns:a="http://schemas.openxmlformats.org/drawingml/2006/main">
              <a:ext uri="{FF2B5EF4-FFF2-40B4-BE49-F238E27FC236}">
                <a16:creationId xmlns:a16="http://schemas.microsoft.com/office/drawing/2014/main" id="{B67978E4-B341-4829-8CE8-EBE1C7F4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76600"/>
            <a:ext cx="1876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A universal Transformer achieved lower MAE in all 12 locked comparisons, yet tail errors still weakened battery revenue. A shallow expert router reached 63.53 USD/node-day, but its +1.73 gain over the strongest static hybrid remained statistically uncertain.</a:t>
            </a:r>
          </a:p>
        </p:txBody>
      </p:sp>
      <p:sp>
        <p:nvSpPr>
          <p:cNvPr id="1034" name="journey-title">
            <a:extLst xmlns:a="http://schemas.openxmlformats.org/drawingml/2006/main">
              <a:ext uri="{FF2B5EF4-FFF2-40B4-BE49-F238E27FC236}">
                <a16:creationId xmlns:a16="http://schemas.microsoft.com/office/drawing/2014/main" id="{29B194DA-621E-4110-85BB-551B5BF0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05300"/>
            <a:ext cx="2034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Five-stage research programme built on a Transformer ablation foundation</a:t>
            </a:r>
          </a:p>
        </p:txBody>
      </p:sp>
      <p:sp>
        <p:nvSpPr>
          <p:cNvPr id="1035" name="journey-rule">
            <a:extLst xmlns:a="http://schemas.openxmlformats.org/drawingml/2006/main">
              <a:ext uri="{FF2B5EF4-FFF2-40B4-BE49-F238E27FC236}">
                <a16:creationId xmlns:a16="http://schemas.microsoft.com/office/drawing/2014/main" id="{598B402C-3E06-438B-A79C-DDF000DE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81550"/>
            <a:ext cx="2034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769AA"/>
            </a:solidFill>
            <a:prstDash val="solid"/>
          </a:ln>
        </p:spPr>
      </p:sp>
      <p:sp>
        <p:nvSpPr>
          <p:cNvPr id="1036" name="stage-0-bg">
            <a:extLst xmlns:a="http://schemas.openxmlformats.org/drawingml/2006/main">
              <a:ext uri="{FF2B5EF4-FFF2-40B4-BE49-F238E27FC236}">
                <a16:creationId xmlns:a16="http://schemas.microsoft.com/office/drawing/2014/main" id="{B6544596-FDE4-410B-BE2F-FE85BF5E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14900"/>
            <a:ext cx="327660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8"/>
          </a:solidFill>
          <a:ln xmlns:a="http://schemas.openxmlformats.org/drawingml/2006/main" w="11430">
            <a:solidFill>
              <a:srgbClr val="D2DDE5"/>
            </a:solidFill>
            <a:prstDash val="solid"/>
          </a:ln>
        </p:spPr>
      </p:sp>
      <p:sp>
        <p:nvSpPr>
          <p:cNvPr id="1037" name="stage-0-accent">
            <a:extLst xmlns:a="http://schemas.openxmlformats.org/drawingml/2006/main">
              <a:ext uri="{FF2B5EF4-FFF2-40B4-BE49-F238E27FC236}">
                <a16:creationId xmlns:a16="http://schemas.microsoft.com/office/drawing/2014/main" id="{151E6A23-CE93-4493-A85E-C920F86F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14900"/>
            <a:ext cx="3276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5A92"/>
          </a:solidFill>
          <a:ln xmlns:a="http://schemas.openxmlformats.org/drawingml/2006/main" w="0">
            <a:solidFill>
              <a:srgbClr val="745A92"/>
            </a:solidFill>
            <a:prstDash val="solid"/>
          </a:ln>
        </p:spPr>
      </p:sp>
      <p:sp>
        <p:nvSpPr>
          <p:cNvPr id="1038" name="stage-0-label">
            <a:extLst xmlns:a="http://schemas.openxmlformats.org/drawingml/2006/main">
              <a:ext uri="{FF2B5EF4-FFF2-40B4-BE49-F238E27FC236}">
                <a16:creationId xmlns:a16="http://schemas.microsoft.com/office/drawing/2014/main" id="{C81912F4-3293-4A72-AC76-057152D4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1435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200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200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200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200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200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200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200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200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200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45A92"/>
                </a:solidFill>
                <a:latin typeface="Arial"/>
                <a:ea typeface="Arial"/>
                <a:cs typeface="Arial"/>
              </a:rPr>
              <a:t>FOUNDATION</a:t>
            </a:r>
          </a:p>
        </p:txBody>
      </p:sp>
      <p:sp>
        <p:nvSpPr>
          <p:cNvPr id="1039" name="stage-0-title">
            <a:extLst xmlns:a="http://schemas.openxmlformats.org/drawingml/2006/main">
              <a:ext uri="{FF2B5EF4-FFF2-40B4-BE49-F238E27FC236}">
                <a16:creationId xmlns:a16="http://schemas.microsoft.com/office/drawing/2014/main" id="{3416240F-980F-4E09-A758-C7895151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197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Transformer ablations</a:t>
            </a:r>
          </a:p>
        </p:txBody>
      </p:sp>
      <p:sp>
        <p:nvSpPr>
          <p:cNvPr id="1040" name="abl-0-0">
            <a:extLst xmlns:a="http://schemas.openxmlformats.org/drawingml/2006/main">
              <a:ext uri="{FF2B5EF4-FFF2-40B4-BE49-F238E27FC236}">
                <a16:creationId xmlns:a16="http://schemas.microsoft.com/office/drawing/2014/main" id="{45AF7BD7-6417-479A-B484-41B705B3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3" y="6105525"/>
            <a:ext cx="238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7EC"/>
          </a:solidFill>
          <a:ln xmlns:a="http://schemas.openxmlformats.org/drawingml/2006/main" w="0">
            <a:solidFill>
              <a:srgbClr val="E2D7EC"/>
            </a:solidFill>
            <a:prstDash val="solid"/>
          </a:ln>
        </p:spPr>
      </p:sp>
      <p:sp>
        <p:nvSpPr>
          <p:cNvPr id="1041" name="abl-0-1">
            <a:extLst xmlns:a="http://schemas.openxmlformats.org/drawingml/2006/main">
              <a:ext uri="{FF2B5EF4-FFF2-40B4-BE49-F238E27FC236}">
                <a16:creationId xmlns:a16="http://schemas.microsoft.com/office/drawing/2014/main" id="{C6461FFD-98C6-49F7-B7EE-7239885C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3" y="6105525"/>
            <a:ext cx="238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A94"/>
          </a:solidFill>
          <a:ln xmlns:a="http://schemas.openxmlformats.org/drawingml/2006/main" w="0">
            <a:solidFill>
              <a:srgbClr val="765A94"/>
            </a:solidFill>
            <a:prstDash val="solid"/>
          </a:ln>
        </p:spPr>
      </p:sp>
      <p:sp>
        <p:nvSpPr>
          <p:cNvPr id="1042" name="abl-0-2">
            <a:extLst xmlns:a="http://schemas.openxmlformats.org/drawingml/2006/main">
              <a:ext uri="{FF2B5EF4-FFF2-40B4-BE49-F238E27FC236}">
                <a16:creationId xmlns:a16="http://schemas.microsoft.com/office/drawing/2014/main" id="{89EBA9A9-E6BC-4237-A437-18E20615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263" y="6105525"/>
            <a:ext cx="238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82BB"/>
          </a:solidFill>
          <a:ln xmlns:a="http://schemas.openxmlformats.org/drawingml/2006/main" w="0">
            <a:solidFill>
              <a:srgbClr val="9F82BB"/>
            </a:solidFill>
            <a:prstDash val="solid"/>
          </a:ln>
        </p:spPr>
      </p:sp>
      <p:sp>
        <p:nvSpPr>
          <p:cNvPr id="1043" name="abl-0-3">
            <a:extLst xmlns:a="http://schemas.openxmlformats.org/drawingml/2006/main">
              <a:ext uri="{FF2B5EF4-FFF2-40B4-BE49-F238E27FC236}">
                <a16:creationId xmlns:a16="http://schemas.microsoft.com/office/drawing/2014/main" id="{25A2B222-9B00-4C80-A853-16F34AD2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113" y="6105525"/>
            <a:ext cx="238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DA"/>
          </a:solidFill>
          <a:ln xmlns:a="http://schemas.openxmlformats.org/drawingml/2006/main" w="0">
            <a:solidFill>
              <a:srgbClr val="C7B3DA"/>
            </a:solidFill>
            <a:prstDash val="solid"/>
          </a:ln>
        </p:spPr>
      </p:sp>
      <p:sp>
        <p:nvSpPr>
          <p:cNvPr id="1044" name="abl-0-4">
            <a:extLst xmlns:a="http://schemas.openxmlformats.org/drawingml/2006/main">
              <a:ext uri="{FF2B5EF4-FFF2-40B4-BE49-F238E27FC236}">
                <a16:creationId xmlns:a16="http://schemas.microsoft.com/office/drawing/2014/main" id="{F2CD5FF8-09E5-4760-8652-7909D95B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963" y="6105525"/>
            <a:ext cx="238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7EC"/>
          </a:solidFill>
          <a:ln xmlns:a="http://schemas.openxmlformats.org/drawingml/2006/main" w="0">
            <a:solidFill>
              <a:srgbClr val="E2D7EC"/>
            </a:solidFill>
            <a:prstDash val="solid"/>
          </a:ln>
        </p:spPr>
      </p:sp>
      <p:sp>
        <p:nvSpPr>
          <p:cNvPr id="1045" name="abl-0-5">
            <a:extLst xmlns:a="http://schemas.openxmlformats.org/drawingml/2006/main">
              <a:ext uri="{FF2B5EF4-FFF2-40B4-BE49-F238E27FC236}">
                <a16:creationId xmlns:a16="http://schemas.microsoft.com/office/drawing/2014/main" id="{21CC1EA7-4241-4486-BD3F-859E534D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6105525"/>
            <a:ext cx="238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DA"/>
          </a:solidFill>
          <a:ln xmlns:a="http://schemas.openxmlformats.org/drawingml/2006/main" w="0">
            <a:solidFill>
              <a:srgbClr val="C7B3DA"/>
            </a:solidFill>
            <a:prstDash val="solid"/>
          </a:ln>
        </p:spPr>
      </p:sp>
      <p:sp>
        <p:nvSpPr>
          <p:cNvPr id="1046" name="abl-0-6">
            <a:extLst xmlns:a="http://schemas.openxmlformats.org/drawingml/2006/main">
              <a:ext uri="{FF2B5EF4-FFF2-40B4-BE49-F238E27FC236}">
                <a16:creationId xmlns:a16="http://schemas.microsoft.com/office/drawing/2014/main" id="{AB10617F-85DA-4E20-93A3-57A603CA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663" y="6105525"/>
            <a:ext cx="238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7EC"/>
          </a:solidFill>
          <a:ln xmlns:a="http://schemas.openxmlformats.org/drawingml/2006/main" w="0">
            <a:solidFill>
              <a:srgbClr val="E2D7EC"/>
            </a:solidFill>
            <a:prstDash val="solid"/>
          </a:ln>
        </p:spPr>
      </p:sp>
      <p:sp>
        <p:nvSpPr>
          <p:cNvPr id="1047" name="abl-1-0">
            <a:extLst xmlns:a="http://schemas.openxmlformats.org/drawingml/2006/main">
              <a:ext uri="{FF2B5EF4-FFF2-40B4-BE49-F238E27FC236}">
                <a16:creationId xmlns:a16="http://schemas.microsoft.com/office/drawing/2014/main" id="{1988919D-9B73-4D44-928D-9B1CB64A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3" y="6324600"/>
            <a:ext cx="238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DA"/>
          </a:solidFill>
          <a:ln xmlns:a="http://schemas.openxmlformats.org/drawingml/2006/main" w="0">
            <a:solidFill>
              <a:srgbClr val="C7B3DA"/>
            </a:solidFill>
            <a:prstDash val="solid"/>
          </a:ln>
        </p:spPr>
      </p:sp>
      <p:sp>
        <p:nvSpPr>
          <p:cNvPr id="1048" name="abl-1-1">
            <a:extLst xmlns:a="http://schemas.openxmlformats.org/drawingml/2006/main">
              <a:ext uri="{FF2B5EF4-FFF2-40B4-BE49-F238E27FC236}">
                <a16:creationId xmlns:a16="http://schemas.microsoft.com/office/drawing/2014/main" id="{259A11DB-2FF7-4B28-8FA7-0CCF5D21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3" y="6324600"/>
            <a:ext cx="238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7EC"/>
          </a:solidFill>
          <a:ln xmlns:a="http://schemas.openxmlformats.org/drawingml/2006/main" w="0">
            <a:solidFill>
              <a:srgbClr val="E2D7EC"/>
            </a:solidFill>
            <a:prstDash val="solid"/>
          </a:ln>
        </p:spPr>
      </p:sp>
      <p:sp>
        <p:nvSpPr>
          <p:cNvPr id="1049" name="abl-1-2">
            <a:extLst xmlns:a="http://schemas.openxmlformats.org/drawingml/2006/main">
              <a:ext uri="{FF2B5EF4-FFF2-40B4-BE49-F238E27FC236}">
                <a16:creationId xmlns:a16="http://schemas.microsoft.com/office/drawing/2014/main" id="{C793291A-9092-4808-94A4-5C5D2A5A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263" y="6324600"/>
            <a:ext cx="238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A94"/>
          </a:solidFill>
          <a:ln xmlns:a="http://schemas.openxmlformats.org/drawingml/2006/main" w="0">
            <a:solidFill>
              <a:srgbClr val="765A94"/>
            </a:solidFill>
            <a:prstDash val="solid"/>
          </a:ln>
        </p:spPr>
      </p:sp>
      <p:sp>
        <p:nvSpPr>
          <p:cNvPr id="1050" name="abl-1-3">
            <a:extLst xmlns:a="http://schemas.openxmlformats.org/drawingml/2006/main">
              <a:ext uri="{FF2B5EF4-FFF2-40B4-BE49-F238E27FC236}">
                <a16:creationId xmlns:a16="http://schemas.microsoft.com/office/drawing/2014/main" id="{BEDE1886-0603-4E5A-B331-3100728A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113" y="6324600"/>
            <a:ext cx="238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82BB"/>
          </a:solidFill>
          <a:ln xmlns:a="http://schemas.openxmlformats.org/drawingml/2006/main" w="0">
            <a:solidFill>
              <a:srgbClr val="9F82BB"/>
            </a:solidFill>
            <a:prstDash val="solid"/>
          </a:ln>
        </p:spPr>
      </p:sp>
      <p:sp>
        <p:nvSpPr>
          <p:cNvPr id="1051" name="abl-1-4">
            <a:extLst xmlns:a="http://schemas.openxmlformats.org/drawingml/2006/main">
              <a:ext uri="{FF2B5EF4-FFF2-40B4-BE49-F238E27FC236}">
                <a16:creationId xmlns:a16="http://schemas.microsoft.com/office/drawing/2014/main" id="{907F392B-9755-48F0-B0F1-062D7AA9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963" y="6324600"/>
            <a:ext cx="238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DA"/>
          </a:solidFill>
          <a:ln xmlns:a="http://schemas.openxmlformats.org/drawingml/2006/main" w="0">
            <a:solidFill>
              <a:srgbClr val="C7B3DA"/>
            </a:solidFill>
            <a:prstDash val="solid"/>
          </a:ln>
        </p:spPr>
      </p:sp>
      <p:sp>
        <p:nvSpPr>
          <p:cNvPr id="1052" name="abl-1-5">
            <a:extLst xmlns:a="http://schemas.openxmlformats.org/drawingml/2006/main">
              <a:ext uri="{FF2B5EF4-FFF2-40B4-BE49-F238E27FC236}">
                <a16:creationId xmlns:a16="http://schemas.microsoft.com/office/drawing/2014/main" id="{B39B26CC-CB92-4AE8-87E1-59DB27FD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6324600"/>
            <a:ext cx="238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82BB"/>
          </a:solidFill>
          <a:ln xmlns:a="http://schemas.openxmlformats.org/drawingml/2006/main" w="0">
            <a:solidFill>
              <a:srgbClr val="9F82BB"/>
            </a:solidFill>
            <a:prstDash val="solid"/>
          </a:ln>
        </p:spPr>
      </p:sp>
      <p:sp>
        <p:nvSpPr>
          <p:cNvPr id="1053" name="abl-1-6">
            <a:extLst xmlns:a="http://schemas.openxmlformats.org/drawingml/2006/main">
              <a:ext uri="{FF2B5EF4-FFF2-40B4-BE49-F238E27FC236}">
                <a16:creationId xmlns:a16="http://schemas.microsoft.com/office/drawing/2014/main" id="{7C32A369-A1AA-4E60-B0C4-B05789DA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663" y="6324600"/>
            <a:ext cx="238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DA"/>
          </a:solidFill>
          <a:ln xmlns:a="http://schemas.openxmlformats.org/drawingml/2006/main" w="0">
            <a:solidFill>
              <a:srgbClr val="C7B3DA"/>
            </a:solidFill>
            <a:prstDash val="solid"/>
          </a:ln>
        </p:spPr>
      </p:sp>
      <p:sp>
        <p:nvSpPr>
          <p:cNvPr id="1054" name="abl-2-0">
            <a:extLst xmlns:a="http://schemas.openxmlformats.org/drawingml/2006/main">
              <a:ext uri="{FF2B5EF4-FFF2-40B4-BE49-F238E27FC236}">
                <a16:creationId xmlns:a16="http://schemas.microsoft.com/office/drawing/2014/main" id="{7A98AC36-5AB9-4EEE-A36D-677523B6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3" y="6543675"/>
            <a:ext cx="238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82BB"/>
          </a:solidFill>
          <a:ln xmlns:a="http://schemas.openxmlformats.org/drawingml/2006/main" w="0">
            <a:solidFill>
              <a:srgbClr val="9F82BB"/>
            </a:solidFill>
            <a:prstDash val="solid"/>
          </a:ln>
        </p:spPr>
      </p:sp>
      <p:sp>
        <p:nvSpPr>
          <p:cNvPr id="1055" name="abl-2-1">
            <a:extLst xmlns:a="http://schemas.openxmlformats.org/drawingml/2006/main">
              <a:ext uri="{FF2B5EF4-FFF2-40B4-BE49-F238E27FC236}">
                <a16:creationId xmlns:a16="http://schemas.microsoft.com/office/drawing/2014/main" id="{C1365D71-C894-4E54-AB87-080C488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3" y="6543675"/>
            <a:ext cx="238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DA"/>
          </a:solidFill>
          <a:ln xmlns:a="http://schemas.openxmlformats.org/drawingml/2006/main" w="0">
            <a:solidFill>
              <a:srgbClr val="C7B3DA"/>
            </a:solidFill>
            <a:prstDash val="solid"/>
          </a:ln>
        </p:spPr>
      </p:sp>
      <p:sp>
        <p:nvSpPr>
          <p:cNvPr id="1056" name="abl-2-2">
            <a:extLst xmlns:a="http://schemas.openxmlformats.org/drawingml/2006/main">
              <a:ext uri="{FF2B5EF4-FFF2-40B4-BE49-F238E27FC236}">
                <a16:creationId xmlns:a16="http://schemas.microsoft.com/office/drawing/2014/main" id="{6AF7C62F-18CF-40F3-AB4D-72D45A15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263" y="6543675"/>
            <a:ext cx="238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7EC"/>
          </a:solidFill>
          <a:ln xmlns:a="http://schemas.openxmlformats.org/drawingml/2006/main" w="0">
            <a:solidFill>
              <a:srgbClr val="E2D7EC"/>
            </a:solidFill>
            <a:prstDash val="solid"/>
          </a:ln>
        </p:spPr>
      </p:sp>
      <p:sp>
        <p:nvSpPr>
          <p:cNvPr id="1057" name="abl-2-3">
            <a:extLst xmlns:a="http://schemas.openxmlformats.org/drawingml/2006/main">
              <a:ext uri="{FF2B5EF4-FFF2-40B4-BE49-F238E27FC236}">
                <a16:creationId xmlns:a16="http://schemas.microsoft.com/office/drawing/2014/main" id="{B5863C78-3286-4055-97FE-90E80BB7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113" y="6543675"/>
            <a:ext cx="238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A94"/>
          </a:solidFill>
          <a:ln xmlns:a="http://schemas.openxmlformats.org/drawingml/2006/main" w="0">
            <a:solidFill>
              <a:srgbClr val="765A94"/>
            </a:solidFill>
            <a:prstDash val="solid"/>
          </a:ln>
        </p:spPr>
      </p:sp>
      <p:sp>
        <p:nvSpPr>
          <p:cNvPr id="1058" name="abl-2-4">
            <a:extLst xmlns:a="http://schemas.openxmlformats.org/drawingml/2006/main">
              <a:ext uri="{FF2B5EF4-FFF2-40B4-BE49-F238E27FC236}">
                <a16:creationId xmlns:a16="http://schemas.microsoft.com/office/drawing/2014/main" id="{F6B1A92F-4112-4390-A468-4B138280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963" y="6543675"/>
            <a:ext cx="238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82BB"/>
          </a:solidFill>
          <a:ln xmlns:a="http://schemas.openxmlformats.org/drawingml/2006/main" w="0">
            <a:solidFill>
              <a:srgbClr val="9F82BB"/>
            </a:solidFill>
            <a:prstDash val="solid"/>
          </a:ln>
        </p:spPr>
      </p:sp>
      <p:sp>
        <p:nvSpPr>
          <p:cNvPr id="1059" name="abl-2-5">
            <a:extLst xmlns:a="http://schemas.openxmlformats.org/drawingml/2006/main">
              <a:ext uri="{FF2B5EF4-FFF2-40B4-BE49-F238E27FC236}">
                <a16:creationId xmlns:a16="http://schemas.microsoft.com/office/drawing/2014/main" id="{47827BF5-EA99-4469-AA0B-E1FA5441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6543675"/>
            <a:ext cx="238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A94"/>
          </a:solidFill>
          <a:ln xmlns:a="http://schemas.openxmlformats.org/drawingml/2006/main" w="0">
            <a:solidFill>
              <a:srgbClr val="765A94"/>
            </a:solidFill>
            <a:prstDash val="solid"/>
          </a:ln>
        </p:spPr>
      </p:sp>
      <p:sp>
        <p:nvSpPr>
          <p:cNvPr id="1060" name="abl-2-6">
            <a:extLst xmlns:a="http://schemas.openxmlformats.org/drawingml/2006/main">
              <a:ext uri="{FF2B5EF4-FFF2-40B4-BE49-F238E27FC236}">
                <a16:creationId xmlns:a16="http://schemas.microsoft.com/office/drawing/2014/main" id="{170A4789-2830-4DE8-BBEE-86B0D0DD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663" y="6543675"/>
            <a:ext cx="238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82BB"/>
          </a:solidFill>
          <a:ln xmlns:a="http://schemas.openxmlformats.org/drawingml/2006/main" w="0">
            <a:solidFill>
              <a:srgbClr val="9F82BB"/>
            </a:solidFill>
            <a:prstDash val="solid"/>
          </a:ln>
        </p:spPr>
      </p:sp>
      <p:sp>
        <p:nvSpPr>
          <p:cNvPr id="1061" name="abl-3-0">
            <a:extLst xmlns:a="http://schemas.openxmlformats.org/drawingml/2006/main">
              <a:ext uri="{FF2B5EF4-FFF2-40B4-BE49-F238E27FC236}">
                <a16:creationId xmlns:a16="http://schemas.microsoft.com/office/drawing/2014/main" id="{98959DC8-0B18-45BC-992D-5D9C82E0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3" y="6762750"/>
            <a:ext cx="238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A94"/>
          </a:solidFill>
          <a:ln xmlns:a="http://schemas.openxmlformats.org/drawingml/2006/main" w="0">
            <a:solidFill>
              <a:srgbClr val="765A94"/>
            </a:solidFill>
            <a:prstDash val="solid"/>
          </a:ln>
        </p:spPr>
      </p:sp>
      <p:sp>
        <p:nvSpPr>
          <p:cNvPr id="1062" name="abl-3-1">
            <a:extLst xmlns:a="http://schemas.openxmlformats.org/drawingml/2006/main">
              <a:ext uri="{FF2B5EF4-FFF2-40B4-BE49-F238E27FC236}">
                <a16:creationId xmlns:a16="http://schemas.microsoft.com/office/drawing/2014/main" id="{08D33962-4F7C-4F8E-8F9A-BAD27417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3" y="6762750"/>
            <a:ext cx="238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82BB"/>
          </a:solidFill>
          <a:ln xmlns:a="http://schemas.openxmlformats.org/drawingml/2006/main" w="0">
            <a:solidFill>
              <a:srgbClr val="9F82BB"/>
            </a:solidFill>
            <a:prstDash val="solid"/>
          </a:ln>
        </p:spPr>
      </p:sp>
      <p:sp>
        <p:nvSpPr>
          <p:cNvPr id="1063" name="abl-3-2">
            <a:extLst xmlns:a="http://schemas.openxmlformats.org/drawingml/2006/main">
              <a:ext uri="{FF2B5EF4-FFF2-40B4-BE49-F238E27FC236}">
                <a16:creationId xmlns:a16="http://schemas.microsoft.com/office/drawing/2014/main" id="{4E96AF18-7096-4F48-A8B1-A674B060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263" y="6762750"/>
            <a:ext cx="238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DA"/>
          </a:solidFill>
          <a:ln xmlns:a="http://schemas.openxmlformats.org/drawingml/2006/main" w="0">
            <a:solidFill>
              <a:srgbClr val="C7B3DA"/>
            </a:solidFill>
            <a:prstDash val="solid"/>
          </a:ln>
        </p:spPr>
      </p:sp>
      <p:sp>
        <p:nvSpPr>
          <p:cNvPr id="1064" name="abl-3-3">
            <a:extLst xmlns:a="http://schemas.openxmlformats.org/drawingml/2006/main">
              <a:ext uri="{FF2B5EF4-FFF2-40B4-BE49-F238E27FC236}">
                <a16:creationId xmlns:a16="http://schemas.microsoft.com/office/drawing/2014/main" id="{ABEFB419-92DF-4E21-AC48-81A1C0CE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113" y="6762750"/>
            <a:ext cx="238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7EC"/>
          </a:solidFill>
          <a:ln xmlns:a="http://schemas.openxmlformats.org/drawingml/2006/main" w="0">
            <a:solidFill>
              <a:srgbClr val="E2D7EC"/>
            </a:solidFill>
            <a:prstDash val="solid"/>
          </a:ln>
        </p:spPr>
      </p:sp>
      <p:sp>
        <p:nvSpPr>
          <p:cNvPr id="1065" name="abl-3-4">
            <a:extLst xmlns:a="http://schemas.openxmlformats.org/drawingml/2006/main">
              <a:ext uri="{FF2B5EF4-FFF2-40B4-BE49-F238E27FC236}">
                <a16:creationId xmlns:a16="http://schemas.microsoft.com/office/drawing/2014/main" id="{F3BD9ABD-E8AC-45F7-9CFC-93CD3B22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963" y="6762750"/>
            <a:ext cx="238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A94"/>
          </a:solidFill>
          <a:ln xmlns:a="http://schemas.openxmlformats.org/drawingml/2006/main" w="0">
            <a:solidFill>
              <a:srgbClr val="765A94"/>
            </a:solidFill>
            <a:prstDash val="solid"/>
          </a:ln>
        </p:spPr>
      </p:sp>
      <p:sp>
        <p:nvSpPr>
          <p:cNvPr id="1066" name="abl-3-5">
            <a:extLst xmlns:a="http://schemas.openxmlformats.org/drawingml/2006/main">
              <a:ext uri="{FF2B5EF4-FFF2-40B4-BE49-F238E27FC236}">
                <a16:creationId xmlns:a16="http://schemas.microsoft.com/office/drawing/2014/main" id="{A258B1B7-94D0-467B-A5E8-49553D6C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6762750"/>
            <a:ext cx="238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7EC"/>
          </a:solidFill>
          <a:ln xmlns:a="http://schemas.openxmlformats.org/drawingml/2006/main" w="0">
            <a:solidFill>
              <a:srgbClr val="E2D7EC"/>
            </a:solidFill>
            <a:prstDash val="solid"/>
          </a:ln>
        </p:spPr>
      </p:sp>
      <p:sp>
        <p:nvSpPr>
          <p:cNvPr id="1067" name="abl-3-6">
            <a:extLst xmlns:a="http://schemas.openxmlformats.org/drawingml/2006/main">
              <a:ext uri="{FF2B5EF4-FFF2-40B4-BE49-F238E27FC236}">
                <a16:creationId xmlns:a16="http://schemas.microsoft.com/office/drawing/2014/main" id="{C9743964-5431-4F57-8D52-0F925ADE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663" y="6762750"/>
            <a:ext cx="238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A94"/>
          </a:solidFill>
          <a:ln xmlns:a="http://schemas.openxmlformats.org/drawingml/2006/main" w="0">
            <a:solidFill>
              <a:srgbClr val="765A94"/>
            </a:solidFill>
            <a:prstDash val="solid"/>
          </a:ln>
        </p:spPr>
      </p:sp>
      <p:sp>
        <p:nvSpPr>
          <p:cNvPr id="1068" name="abl-ffn">
            <a:extLst xmlns:a="http://schemas.openxmlformats.org/drawingml/2006/main">
              <a:ext uri="{FF2B5EF4-FFF2-40B4-BE49-F238E27FC236}">
                <a16:creationId xmlns:a16="http://schemas.microsoft.com/office/drawing/2014/main" id="{D1EB4DF5-0998-4DDE-A078-D89B5B9A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3" y="69437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45A92"/>
                </a:solidFill>
                <a:latin typeface="Arial"/>
                <a:ea typeface="Arial"/>
                <a:cs typeface="Arial"/>
              </a:rPr>
              <a:t>FFN</a:t>
            </a:r>
          </a:p>
        </p:txBody>
      </p:sp>
      <p:sp>
        <p:nvSpPr>
          <p:cNvPr id="1069" name="abl-count">
            <a:extLst xmlns:a="http://schemas.openxmlformats.org/drawingml/2006/main">
              <a:ext uri="{FF2B5EF4-FFF2-40B4-BE49-F238E27FC236}">
                <a16:creationId xmlns:a16="http://schemas.microsoft.com/office/drawing/2014/main" id="{DFC57E2B-1E58-408D-81BE-D8D2D692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13" y="6943725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527"/>
          </a:bodyPr>
          <a:lstStyle xmlns:a="http://schemas.openxmlformats.org/drawingml/2006/main">
            <a:defPPr algn="r">
              <a:defRPr sz="975">
                <a:solidFill>
                  <a:srgbClr val="344452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75">
                <a:solidFill>
                  <a:srgbClr val="344452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75">
                <a:solidFill>
                  <a:srgbClr val="344452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75">
                <a:solidFill>
                  <a:srgbClr val="344452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75">
                <a:solidFill>
                  <a:srgbClr val="344452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75">
                <a:solidFill>
                  <a:srgbClr val="344452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75">
                <a:solidFill>
                  <a:srgbClr val="344452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75">
                <a:solidFill>
                  <a:srgbClr val="344452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75">
                <a:solidFill>
                  <a:srgbClr val="344452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75">
                <a:solidFill>
                  <a:srgbClr val="3444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75">
                <a:solidFill>
                  <a:srgbClr val="344452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344452"/>
                </a:solidFill>
                <a:latin typeface="Arial"/>
                <a:ea typeface="Arial"/>
                <a:cs typeface="Arial"/>
              </a:rPr>
              <a:t>12 component + 32 layer removals</a:t>
            </a:r>
          </a:p>
        </p:txBody>
      </p:sp>
      <p:sp>
        <p:nvSpPr>
          <p:cNvPr id="1070" name="stage-0-body">
            <a:extLst xmlns:a="http://schemas.openxmlformats.org/drawingml/2006/main">
              <a:ext uri="{FF2B5EF4-FFF2-40B4-BE49-F238E27FC236}">
                <a16:creationId xmlns:a16="http://schemas.microsoft.com/office/drawing/2014/main" id="{5BA70632-8654-44AE-896D-B118906A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315200"/>
            <a:ext cx="28956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1000"/>
              </a:lnSpc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51A1E"/>
                </a:solidFill>
                <a:latin typeface="Arial"/>
                <a:ea typeface="Arial"/>
                <a:cs typeface="Arial"/>
              </a:rPr>
              <a:t>Inputs, frequency, horizon and multivariate context were screened first. Removing the FFN caused the largest loss, with SMAPE worsening by 33% to 486%.</a:t>
            </a:r>
          </a:p>
        </p:txBody>
      </p:sp>
      <p:sp>
        <p:nvSpPr>
          <p:cNvPr id="1071" name="stage-chevron-0">
            <a:extLst xmlns:a="http://schemas.openxmlformats.org/drawingml/2006/main">
              <a:ext uri="{FF2B5EF4-FFF2-40B4-BE49-F238E27FC236}">
                <a16:creationId xmlns:a16="http://schemas.microsoft.com/office/drawing/2014/main" id="{28A85CE0-8894-4F1E-96DB-69403EAC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6715125"/>
            <a:ext cx="171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AA4B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072" name="stage-1-bg">
            <a:extLst xmlns:a="http://schemas.openxmlformats.org/drawingml/2006/main">
              <a:ext uri="{FF2B5EF4-FFF2-40B4-BE49-F238E27FC236}">
                <a16:creationId xmlns:a16="http://schemas.microsoft.com/office/drawing/2014/main" id="{53824649-7F1A-4AEC-9880-F0BB374F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914900"/>
            <a:ext cx="327660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A"/>
          </a:solidFill>
          <a:ln xmlns:a="http://schemas.openxmlformats.org/drawingml/2006/main" w="11430">
            <a:solidFill>
              <a:srgbClr val="D2DDE5"/>
            </a:solidFill>
            <a:prstDash val="solid"/>
          </a:ln>
        </p:spPr>
      </p:sp>
      <p:sp>
        <p:nvSpPr>
          <p:cNvPr id="1073" name="stage-1-accent">
            <a:extLst xmlns:a="http://schemas.openxmlformats.org/drawingml/2006/main">
              <a:ext uri="{FF2B5EF4-FFF2-40B4-BE49-F238E27FC236}">
                <a16:creationId xmlns:a16="http://schemas.microsoft.com/office/drawing/2014/main" id="{5C6E823B-814D-4488-8E02-D9D1E134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914900"/>
            <a:ext cx="3276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1074" name="stage-1-label">
            <a:extLst xmlns:a="http://schemas.openxmlformats.org/drawingml/2006/main">
              <a:ext uri="{FF2B5EF4-FFF2-40B4-BE49-F238E27FC236}">
                <a16:creationId xmlns:a16="http://schemas.microsoft.com/office/drawing/2014/main" id="{8DFA3D20-93F3-44FE-AFD0-B5DE7A9C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51435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2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2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2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2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2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2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2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2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2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STAGE 1</a:t>
            </a:r>
          </a:p>
        </p:txBody>
      </p:sp>
      <p:sp>
        <p:nvSpPr>
          <p:cNvPr id="1075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37E00B8B-885A-4D63-A9FA-BD9CBD5D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4197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Three-task system</a:t>
            </a:r>
          </a:p>
        </p:txBody>
      </p:sp>
      <p:sp>
        <p:nvSpPr>
          <p:cNvPr id="1076" name="s1-task-0">
            <a:extLst xmlns:a="http://schemas.openxmlformats.org/drawingml/2006/main">
              <a:ext uri="{FF2B5EF4-FFF2-40B4-BE49-F238E27FC236}">
                <a16:creationId xmlns:a16="http://schemas.microsoft.com/office/drawing/2014/main" id="{1A3DE6CA-A13E-4E76-962C-92067B77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6162675"/>
            <a:ext cx="68580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769A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DA</a:t>
            </a:r>
          </a:p>
        </p:txBody>
      </p:sp>
      <p:sp>
        <p:nvSpPr>
          <p:cNvPr id="1077" name="s1-task-1">
            <a:extLst xmlns:a="http://schemas.openxmlformats.org/drawingml/2006/main">
              <a:ext uri="{FF2B5EF4-FFF2-40B4-BE49-F238E27FC236}">
                <a16:creationId xmlns:a16="http://schemas.microsoft.com/office/drawing/2014/main" id="{2B61A365-B6A5-4249-B926-93B2568F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6162675"/>
            <a:ext cx="68580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769A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RT@DA</a:t>
            </a:r>
          </a:p>
        </p:txBody>
      </p:sp>
      <p:sp>
        <p:nvSpPr>
          <p:cNvPr id="1078" name="s1-task-2">
            <a:extLst xmlns:a="http://schemas.openxmlformats.org/drawingml/2006/main">
              <a:ext uri="{FF2B5EF4-FFF2-40B4-BE49-F238E27FC236}">
                <a16:creationId xmlns:a16="http://schemas.microsoft.com/office/drawing/2014/main" id="{D927C0E3-617E-4722-AF83-8893CE9A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6162675"/>
            <a:ext cx="68580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769A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4558"/>
          </a:bodyPr>
          <a:lstStyle xmlns:a="http://schemas.openxmlformats.org/drawingml/2006/main">
            <a:defPPr algn="ctr"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Rolling RT</a:t>
            </a:r>
          </a:p>
        </p:txBody>
      </p:sp>
      <p:sp>
        <p:nvSpPr>
          <p:cNvPr id="1079" name="s1-battery">
            <a:extLst xmlns:a="http://schemas.openxmlformats.org/drawingml/2006/main">
              <a:ext uri="{FF2B5EF4-FFF2-40B4-BE49-F238E27FC236}">
                <a16:creationId xmlns:a16="http://schemas.microsoft.com/office/drawing/2014/main" id="{72F5B699-FC95-4185-96F3-CED93C53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6772275"/>
            <a:ext cx="16002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769A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24 h LP + 4 h MPC</a:t>
            </a:r>
          </a:p>
        </p:txBody>
      </p:sp>
      <p:sp>
        <p:nvSpPr>
          <p:cNvPr id="1083" name="stage-1-body">
            <a:extLst xmlns:a="http://schemas.openxmlformats.org/drawingml/2006/main">
              <a:ext uri="{FF2B5EF4-FFF2-40B4-BE49-F238E27FC236}">
                <a16:creationId xmlns:a16="http://schemas.microsoft.com/office/drawing/2014/main" id="{30C078F4-67D8-403E-8534-B8DE8FA1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7315200"/>
            <a:ext cx="28956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1000"/>
              </a:lnSpc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51A1E"/>
                </a:solidFill>
                <a:latin typeface="Arial"/>
                <a:ea typeface="Arial"/>
                <a:cs typeface="Arial"/>
              </a:rPr>
              <a:t>Separate DA, RT-at-DA and rolling RT models were connected to day-ahead LP, four-hour MPC and a continuous two-settlement ledger.</a:t>
            </a:r>
          </a:p>
        </p:txBody>
      </p:sp>
      <p:sp>
        <p:nvSpPr>
          <p:cNvPr id="1084" name="stage-chevron-1">
            <a:extLst xmlns:a="http://schemas.openxmlformats.org/drawingml/2006/main">
              <a:ext uri="{FF2B5EF4-FFF2-40B4-BE49-F238E27FC236}">
                <a16:creationId xmlns:a16="http://schemas.microsoft.com/office/drawing/2014/main" id="{04D7FBB1-3980-4E5F-96FC-3A418936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6715125"/>
            <a:ext cx="171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AA4B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085" name="stage-2-bg">
            <a:extLst xmlns:a="http://schemas.openxmlformats.org/drawingml/2006/main">
              <a:ext uri="{FF2B5EF4-FFF2-40B4-BE49-F238E27FC236}">
                <a16:creationId xmlns:a16="http://schemas.microsoft.com/office/drawing/2014/main" id="{6A5C64C4-8643-4EF2-904A-FFA7D4C8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914900"/>
            <a:ext cx="327660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11430">
            <a:solidFill>
              <a:srgbClr val="D2DDE5"/>
            </a:solidFill>
            <a:prstDash val="solid"/>
          </a:ln>
        </p:spPr>
      </p:sp>
      <p:sp>
        <p:nvSpPr>
          <p:cNvPr id="1086" name="stage-2-accent">
            <a:extLst xmlns:a="http://schemas.openxmlformats.org/drawingml/2006/main">
              <a:ext uri="{FF2B5EF4-FFF2-40B4-BE49-F238E27FC236}">
                <a16:creationId xmlns:a16="http://schemas.microsoft.com/office/drawing/2014/main" id="{14078E67-3B78-4A79-991F-4E42FD75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914900"/>
            <a:ext cx="3276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3F4B"/>
          </a:solidFill>
          <a:ln xmlns:a="http://schemas.openxmlformats.org/drawingml/2006/main" w="0">
            <a:solidFill>
              <a:srgbClr val="BE3F4B"/>
            </a:solidFill>
            <a:prstDash val="solid"/>
          </a:ln>
        </p:spPr>
      </p:sp>
      <p:sp>
        <p:nvSpPr>
          <p:cNvPr id="1087" name="stage-2-label">
            <a:extLst xmlns:a="http://schemas.openxmlformats.org/drawingml/2006/main">
              <a:ext uri="{FF2B5EF4-FFF2-40B4-BE49-F238E27FC236}">
                <a16:creationId xmlns:a16="http://schemas.microsoft.com/office/drawing/2014/main" id="{424D0741-5852-4974-A7E9-8D66D964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1435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20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20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20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20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20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20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20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20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20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E3F4B"/>
                </a:solidFill>
                <a:latin typeface="Arial"/>
                <a:ea typeface="Arial"/>
                <a:cs typeface="Arial"/>
              </a:rPr>
              <a:t>STAGE 2</a:t>
            </a:r>
          </a:p>
        </p:txBody>
      </p:sp>
      <p:sp>
        <p:nvSpPr>
          <p:cNvPr id="1088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8BE82DDD-A9A5-4C8B-B3A8-3E54B5D1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54197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Decision-aware training</a:t>
            </a:r>
          </a:p>
        </p:txBody>
      </p:sp>
      <p:sp>
        <p:nvSpPr>
          <p:cNvPr id="1089" name="s2-backbone">
            <a:extLst xmlns:a="http://schemas.openxmlformats.org/drawingml/2006/main">
              <a:ext uri="{FF2B5EF4-FFF2-40B4-BE49-F238E27FC236}">
                <a16:creationId xmlns:a16="http://schemas.microsoft.com/office/drawing/2014/main" id="{713EB139-6B89-4C8D-A07D-08F4011B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267450"/>
            <a:ext cx="142875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A1A7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frozen forecasting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backbone</a:t>
            </a:r>
          </a:p>
        </p:txBody>
      </p:sp>
      <p:sp>
        <p:nvSpPr>
          <p:cNvPr id="1090" name="s2-head">
            <a:extLst xmlns:a="http://schemas.openxmlformats.org/drawingml/2006/main">
              <a:ext uri="{FF2B5EF4-FFF2-40B4-BE49-F238E27FC236}">
                <a16:creationId xmlns:a16="http://schemas.microsoft.com/office/drawing/2014/main" id="{7E33BE0C-D16F-4D12-BCE2-7AA1EFF0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267450"/>
            <a:ext cx="81915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E3F4B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05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05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05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05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05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05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05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05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05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E3F4B"/>
                </a:solidFill>
                <a:latin typeface="Arial"/>
                <a:ea typeface="Arial"/>
                <a:cs typeface="Arial"/>
              </a:rPr>
              <a:t>value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E3F4B"/>
                </a:solidFill>
                <a:latin typeface="Arial"/>
                <a:ea typeface="Arial"/>
                <a:cs typeface="Arial"/>
              </a:rPr>
              <a:t>head</a:t>
            </a:r>
          </a:p>
        </p:txBody>
      </p:sp>
      <p:sp>
        <p:nvSpPr>
          <p:cNvPr id="1092" name="s2-gate">
            <a:extLst xmlns:a="http://schemas.openxmlformats.org/drawingml/2006/main">
              <a:ext uri="{FF2B5EF4-FFF2-40B4-BE49-F238E27FC236}">
                <a16:creationId xmlns:a16="http://schemas.microsoft.com/office/drawing/2014/main" id="{5E5A0702-A211-43CE-9C58-35A116CC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9437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E3F4B"/>
                </a:solidFill>
                <a:latin typeface="Arial"/>
                <a:ea typeface="Arial"/>
                <a:cs typeface="Arial"/>
              </a:rPr>
              <a:t>locked report-only gate</a:t>
            </a:r>
          </a:p>
        </p:txBody>
      </p:sp>
      <p:sp>
        <p:nvSpPr>
          <p:cNvPr id="1093" name="stage-2-body">
            <a:extLst xmlns:a="http://schemas.openxmlformats.org/drawingml/2006/main">
              <a:ext uri="{FF2B5EF4-FFF2-40B4-BE49-F238E27FC236}">
                <a16:creationId xmlns:a16="http://schemas.microsoft.com/office/drawing/2014/main" id="{F987F365-18A9-4868-9A21-704B4375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7315200"/>
            <a:ext cx="28956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1000"/>
              </a:lnSpc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51A1E"/>
                </a:solidFill>
                <a:latin typeface="Arial"/>
                <a:ea typeface="Arial"/>
                <a:cs typeface="Arial"/>
              </a:rPr>
              <a:t>Value-aware objectives reduced validation cost from 123.06 to 108.94. The selected +0.63% gain failed the frozen report-only gate.</a:t>
            </a:r>
          </a:p>
        </p:txBody>
      </p:sp>
      <p:sp>
        <p:nvSpPr>
          <p:cNvPr id="1094" name="stage-chevron-2">
            <a:extLst xmlns:a="http://schemas.openxmlformats.org/drawingml/2006/main">
              <a:ext uri="{FF2B5EF4-FFF2-40B4-BE49-F238E27FC236}">
                <a16:creationId xmlns:a16="http://schemas.microsoft.com/office/drawing/2014/main" id="{494F09DA-762D-42E1-8710-91218C52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6715125"/>
            <a:ext cx="171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AA4B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095" name="stage-3-bg">
            <a:extLst xmlns:a="http://schemas.openxmlformats.org/drawingml/2006/main">
              <a:ext uri="{FF2B5EF4-FFF2-40B4-BE49-F238E27FC236}">
                <a16:creationId xmlns:a16="http://schemas.microsoft.com/office/drawing/2014/main" id="{259A7AFB-94F8-4C0A-AE9D-2773FE99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914900"/>
            <a:ext cx="327660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2"/>
          </a:solidFill>
          <a:ln xmlns:a="http://schemas.openxmlformats.org/drawingml/2006/main" w="11430">
            <a:solidFill>
              <a:srgbClr val="D2DDE5"/>
            </a:solidFill>
            <a:prstDash val="solid"/>
          </a:ln>
        </p:spPr>
      </p:sp>
      <p:sp>
        <p:nvSpPr>
          <p:cNvPr id="1096" name="stage-3-accent">
            <a:extLst xmlns:a="http://schemas.openxmlformats.org/drawingml/2006/main">
              <a:ext uri="{FF2B5EF4-FFF2-40B4-BE49-F238E27FC236}">
                <a16:creationId xmlns:a16="http://schemas.microsoft.com/office/drawing/2014/main" id="{262B99C2-6C04-43C4-B5E5-A4995748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914900"/>
            <a:ext cx="3276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477"/>
          </a:solidFill>
          <a:ln xmlns:a="http://schemas.openxmlformats.org/drawingml/2006/main" w="0">
            <a:solidFill>
              <a:srgbClr val="138477"/>
            </a:solidFill>
            <a:prstDash val="solid"/>
          </a:ln>
        </p:spPr>
      </p:sp>
      <p:sp>
        <p:nvSpPr>
          <p:cNvPr id="1097" name="stage-3-label">
            <a:extLst xmlns:a="http://schemas.openxmlformats.org/drawingml/2006/main">
              <a:ext uri="{FF2B5EF4-FFF2-40B4-BE49-F238E27FC236}">
                <a16:creationId xmlns:a16="http://schemas.microsoft.com/office/drawing/2014/main" id="{E0812DF1-D2BC-40A6-9FEA-8FBEC627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51435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8477"/>
                </a:solidFill>
                <a:latin typeface="Arial"/>
                <a:ea typeface="Arial"/>
                <a:cs typeface="Arial"/>
              </a:rPr>
              <a:t>STAGE 3</a:t>
            </a:r>
          </a:p>
        </p:txBody>
      </p:sp>
      <p:sp>
        <p:nvSpPr>
          <p:cNvPr id="1098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C59D209C-F79B-4AAC-88C7-2452E767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54197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Multi-market transfer</a:t>
            </a:r>
          </a:p>
        </p:txBody>
      </p:sp>
      <p:sp>
        <p:nvSpPr>
          <p:cNvPr id="1099" name="s3-market-0">
            <a:extLst xmlns:a="http://schemas.openxmlformats.org/drawingml/2006/main">
              <a:ext uri="{FF2B5EF4-FFF2-40B4-BE49-F238E27FC236}">
                <a16:creationId xmlns:a16="http://schemas.microsoft.com/office/drawing/2014/main" id="{054A27E8-2758-404B-A251-7A4583F3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143625"/>
            <a:ext cx="533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38477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38477"/>
                </a:solidFill>
                <a:latin typeface="Arial"/>
                <a:ea typeface="Arial"/>
                <a:cs typeface="Arial"/>
              </a:rPr>
              <a:t>CAISO</a:t>
            </a:r>
          </a:p>
        </p:txBody>
      </p:sp>
      <p:sp>
        <p:nvSpPr>
          <p:cNvPr id="1100" name="s3-market-1">
            <a:extLst xmlns:a="http://schemas.openxmlformats.org/drawingml/2006/main">
              <a:ext uri="{FF2B5EF4-FFF2-40B4-BE49-F238E27FC236}">
                <a16:creationId xmlns:a16="http://schemas.microsoft.com/office/drawing/2014/main" id="{D3886533-E9BE-4D31-B1AB-FE16C7FC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6143625"/>
            <a:ext cx="533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38477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38477"/>
                </a:solidFill>
                <a:latin typeface="Arial"/>
                <a:ea typeface="Arial"/>
                <a:cs typeface="Arial"/>
              </a:rPr>
              <a:t>ERCOT</a:t>
            </a:r>
          </a:p>
        </p:txBody>
      </p:sp>
      <p:sp>
        <p:nvSpPr>
          <p:cNvPr id="1101" name="s3-market-2">
            <a:extLst xmlns:a="http://schemas.openxmlformats.org/drawingml/2006/main">
              <a:ext uri="{FF2B5EF4-FFF2-40B4-BE49-F238E27FC236}">
                <a16:creationId xmlns:a16="http://schemas.microsoft.com/office/drawing/2014/main" id="{00FC92AF-3F69-4C2C-BA92-9312E2AC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175" y="6143625"/>
            <a:ext cx="533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38477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38477"/>
                </a:solidFill>
                <a:latin typeface="Arial"/>
                <a:ea typeface="Arial"/>
                <a:cs typeface="Arial"/>
              </a:rPr>
              <a:t>NYISO</a:t>
            </a:r>
          </a:p>
        </p:txBody>
      </p:sp>
      <p:sp>
        <p:nvSpPr>
          <p:cNvPr id="1102" name="s3-market-3">
            <a:extLst xmlns:a="http://schemas.openxmlformats.org/drawingml/2006/main">
              <a:ext uri="{FF2B5EF4-FFF2-40B4-BE49-F238E27FC236}">
                <a16:creationId xmlns:a16="http://schemas.microsoft.com/office/drawing/2014/main" id="{8F13FC49-2538-4B23-B719-31F58C3A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143625"/>
            <a:ext cx="533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38477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82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38477"/>
                </a:solidFill>
                <a:latin typeface="Arial"/>
                <a:ea typeface="Arial"/>
                <a:cs typeface="Arial"/>
              </a:rPr>
              <a:t>PJM</a:t>
            </a:r>
          </a:p>
        </p:txBody>
      </p:sp>
      <p:sp>
        <p:nvSpPr>
          <p:cNvPr id="1103" name="s3-model">
            <a:extLst xmlns:a="http://schemas.openxmlformats.org/drawingml/2006/main">
              <a:ext uri="{FF2B5EF4-FFF2-40B4-BE49-F238E27FC236}">
                <a16:creationId xmlns:a16="http://schemas.microsoft.com/office/drawing/2014/main" id="{05373516-0888-47F1-BC86-30C3B834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715125"/>
            <a:ext cx="180975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38477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shared no-ID Transformer</a:t>
            </a:r>
          </a:p>
        </p:txBody>
      </p:sp>
      <p:sp>
        <p:nvSpPr>
          <p:cNvPr id="1108" name="stage-3-body">
            <a:extLst xmlns:a="http://schemas.openxmlformats.org/drawingml/2006/main">
              <a:ext uri="{FF2B5EF4-FFF2-40B4-BE49-F238E27FC236}">
                <a16:creationId xmlns:a16="http://schemas.microsoft.com/office/drawing/2014/main" id="{2BEE9780-72AE-41F0-A321-8902F078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7315200"/>
            <a:ext cx="28956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1000"/>
              </a:lnSpc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51A1E"/>
                </a:solidFill>
                <a:latin typeface="Arial"/>
                <a:ea typeface="Arial"/>
                <a:cs typeface="Arial"/>
              </a:rPr>
              <a:t>One model without market or node IDs covered CAISO, ERCOT, NYISO and PJM. Development used leave-one-market-out evidence and one locked 2025 test.</a:t>
            </a:r>
          </a:p>
        </p:txBody>
      </p:sp>
      <p:sp>
        <p:nvSpPr>
          <p:cNvPr id="1109" name="stage-chevron-3">
            <a:extLst xmlns:a="http://schemas.openxmlformats.org/drawingml/2006/main">
              <a:ext uri="{FF2B5EF4-FFF2-40B4-BE49-F238E27FC236}">
                <a16:creationId xmlns:a16="http://schemas.microsoft.com/office/drawing/2014/main" id="{4D637E79-7CDC-498E-BC30-F4361312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1275" y="6715125"/>
            <a:ext cx="171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AA4B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110" name="stage-4-bg">
            <a:extLst xmlns:a="http://schemas.openxmlformats.org/drawingml/2006/main">
              <a:ext uri="{FF2B5EF4-FFF2-40B4-BE49-F238E27FC236}">
                <a16:creationId xmlns:a16="http://schemas.microsoft.com/office/drawing/2014/main" id="{10EC81F3-791E-494F-86E8-0A3DAEC0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75" y="4914900"/>
            <a:ext cx="327660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2"/>
          </a:solidFill>
          <a:ln xmlns:a="http://schemas.openxmlformats.org/drawingml/2006/main" w="11430">
            <a:solidFill>
              <a:srgbClr val="D2DDE5"/>
            </a:solidFill>
            <a:prstDash val="solid"/>
          </a:ln>
        </p:spPr>
      </p:sp>
      <p:sp>
        <p:nvSpPr>
          <p:cNvPr id="1111" name="stage-4-accent">
            <a:extLst xmlns:a="http://schemas.openxmlformats.org/drawingml/2006/main">
              <a:ext uri="{FF2B5EF4-FFF2-40B4-BE49-F238E27FC236}">
                <a16:creationId xmlns:a16="http://schemas.microsoft.com/office/drawing/2014/main" id="{80271D36-7EBC-4070-B89A-3DD1C730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75" y="4914900"/>
            <a:ext cx="3276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981B"/>
          </a:solidFill>
          <a:ln xmlns:a="http://schemas.openxmlformats.org/drawingml/2006/main" w="0">
            <a:solidFill>
              <a:srgbClr val="DB981B"/>
            </a:solidFill>
            <a:prstDash val="solid"/>
          </a:ln>
        </p:spPr>
      </p:sp>
      <p:sp>
        <p:nvSpPr>
          <p:cNvPr id="1112" name="stage-4-label">
            <a:extLst xmlns:a="http://schemas.openxmlformats.org/drawingml/2006/main">
              <a:ext uri="{FF2B5EF4-FFF2-40B4-BE49-F238E27FC236}">
                <a16:creationId xmlns:a16="http://schemas.microsoft.com/office/drawing/2014/main" id="{F810521D-6F40-4BDE-971F-EBE4E4BF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7025" y="51435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DB981B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200" b="1">
                <a:solidFill>
                  <a:srgbClr val="DB981B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200" b="1">
                <a:solidFill>
                  <a:srgbClr val="DB981B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200" b="1">
                <a:solidFill>
                  <a:srgbClr val="DB981B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200" b="1">
                <a:solidFill>
                  <a:srgbClr val="DB981B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200" b="1">
                <a:solidFill>
                  <a:srgbClr val="DB981B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200" b="1">
                <a:solidFill>
                  <a:srgbClr val="DB981B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200" b="1">
                <a:solidFill>
                  <a:srgbClr val="DB981B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200" b="1">
                <a:solidFill>
                  <a:srgbClr val="DB981B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200" b="1">
                <a:solidFill>
                  <a:srgbClr val="DB98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DB981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B981B"/>
                </a:solidFill>
                <a:latin typeface="Arial"/>
                <a:ea typeface="Arial"/>
                <a:cs typeface="Arial"/>
              </a:rPr>
              <a:t>STAGE 4</a:t>
            </a:r>
          </a:p>
        </p:txBody>
      </p:sp>
      <p:sp>
        <p:nvSpPr>
          <p:cNvPr id="1113" name="stage-4-title">
            <a:extLst xmlns:a="http://schemas.openxmlformats.org/drawingml/2006/main">
              <a:ext uri="{FF2B5EF4-FFF2-40B4-BE49-F238E27FC236}">
                <a16:creationId xmlns:a16="http://schemas.microsoft.com/office/drawing/2014/main" id="{C6538925-14A3-42AC-BB70-88F9D728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7975" y="54197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Tail adaptation</a:t>
            </a:r>
          </a:p>
        </p:txBody>
      </p:sp>
      <p:sp>
        <p:nvSpPr>
          <p:cNvPr id="1114" name="tail-bar-0">
            <a:extLst xmlns:a="http://schemas.openxmlformats.org/drawingml/2006/main">
              <a:ext uri="{FF2B5EF4-FFF2-40B4-BE49-F238E27FC236}">
                <a16:creationId xmlns:a16="http://schemas.microsoft.com/office/drawing/2014/main" id="{3EADD091-4A27-4827-9D88-E87C35F6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6953250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981B"/>
          </a:solidFill>
          <a:ln xmlns:a="http://schemas.openxmlformats.org/drawingml/2006/main" w="0">
            <a:solidFill>
              <a:srgbClr val="DB981B"/>
            </a:solidFill>
            <a:prstDash val="solid"/>
          </a:ln>
        </p:spPr>
      </p:sp>
      <p:sp>
        <p:nvSpPr>
          <p:cNvPr id="1115" name="tail-bar-1">
            <a:extLst xmlns:a="http://schemas.openxmlformats.org/drawingml/2006/main">
              <a:ext uri="{FF2B5EF4-FFF2-40B4-BE49-F238E27FC236}">
                <a16:creationId xmlns:a16="http://schemas.microsoft.com/office/drawing/2014/main" id="{6CEB5FDF-629F-44DA-8420-6584EC40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6867525"/>
            <a:ext cx="95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981B"/>
          </a:solidFill>
          <a:ln xmlns:a="http://schemas.openxmlformats.org/drawingml/2006/main" w="0">
            <a:solidFill>
              <a:srgbClr val="DB981B"/>
            </a:solidFill>
            <a:prstDash val="solid"/>
          </a:ln>
        </p:spPr>
      </p:sp>
      <p:sp>
        <p:nvSpPr>
          <p:cNvPr id="1116" name="tail-bar-2">
            <a:extLst xmlns:a="http://schemas.openxmlformats.org/drawingml/2006/main">
              <a:ext uri="{FF2B5EF4-FFF2-40B4-BE49-F238E27FC236}">
                <a16:creationId xmlns:a16="http://schemas.microsoft.com/office/drawing/2014/main" id="{24093DDE-DB9F-4286-A1B1-97CB0F70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698182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981B"/>
          </a:solidFill>
          <a:ln xmlns:a="http://schemas.openxmlformats.org/drawingml/2006/main" w="0">
            <a:solidFill>
              <a:srgbClr val="DB981B"/>
            </a:solidFill>
            <a:prstDash val="solid"/>
          </a:ln>
        </p:spPr>
      </p:sp>
      <p:sp>
        <p:nvSpPr>
          <p:cNvPr id="1117" name="tail-bar-3">
            <a:extLst xmlns:a="http://schemas.openxmlformats.org/drawingml/2006/main">
              <a:ext uri="{FF2B5EF4-FFF2-40B4-BE49-F238E27FC236}">
                <a16:creationId xmlns:a16="http://schemas.microsoft.com/office/drawing/2014/main" id="{C439E8BD-D770-471B-8EA8-CE9CFE8F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0" y="6781800"/>
            <a:ext cx="9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981B"/>
          </a:solidFill>
          <a:ln xmlns:a="http://schemas.openxmlformats.org/drawingml/2006/main" w="0">
            <a:solidFill>
              <a:srgbClr val="DB981B"/>
            </a:solidFill>
            <a:prstDash val="solid"/>
          </a:ln>
        </p:spPr>
      </p:sp>
      <p:sp>
        <p:nvSpPr>
          <p:cNvPr id="1118" name="tail-bar-4">
            <a:extLst xmlns:a="http://schemas.openxmlformats.org/drawingml/2006/main">
              <a:ext uri="{FF2B5EF4-FFF2-40B4-BE49-F238E27FC236}">
                <a16:creationId xmlns:a16="http://schemas.microsoft.com/office/drawing/2014/main" id="{0EB95349-E18C-4A4A-BD17-3B7F0C02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693420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981B"/>
          </a:solidFill>
          <a:ln xmlns:a="http://schemas.openxmlformats.org/drawingml/2006/main" w="0">
            <a:solidFill>
              <a:srgbClr val="DB981B"/>
            </a:solidFill>
            <a:prstDash val="solid"/>
          </a:ln>
        </p:spPr>
      </p:sp>
      <p:sp>
        <p:nvSpPr>
          <p:cNvPr id="1119" name="tail-bar-5">
            <a:extLst xmlns:a="http://schemas.openxmlformats.org/drawingml/2006/main">
              <a:ext uri="{FF2B5EF4-FFF2-40B4-BE49-F238E27FC236}">
                <a16:creationId xmlns:a16="http://schemas.microsoft.com/office/drawing/2014/main" id="{8D8A5655-3FBC-466D-B40D-A2BC8AB2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3350" y="6191250"/>
            <a:ext cx="95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3F4B"/>
          </a:solidFill>
          <a:ln xmlns:a="http://schemas.openxmlformats.org/drawingml/2006/main" w="0">
            <a:solidFill>
              <a:srgbClr val="BE3F4B"/>
            </a:solidFill>
            <a:prstDash val="solid"/>
          </a:ln>
        </p:spPr>
      </p:sp>
      <p:sp>
        <p:nvSpPr>
          <p:cNvPr id="1120" name="tail-bar-6">
            <a:extLst xmlns:a="http://schemas.openxmlformats.org/drawingml/2006/main">
              <a:ext uri="{FF2B5EF4-FFF2-40B4-BE49-F238E27FC236}">
                <a16:creationId xmlns:a16="http://schemas.microsoft.com/office/drawing/2014/main" id="{8C4F9B8D-5169-43C6-85A7-7A2BAE75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689610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981B"/>
          </a:solidFill>
          <a:ln xmlns:a="http://schemas.openxmlformats.org/drawingml/2006/main" w="0">
            <a:solidFill>
              <a:srgbClr val="DB981B"/>
            </a:solidFill>
            <a:prstDash val="solid"/>
          </a:ln>
        </p:spPr>
      </p:sp>
      <p:sp>
        <p:nvSpPr>
          <p:cNvPr id="1121" name="tail-bar-7">
            <a:extLst xmlns:a="http://schemas.openxmlformats.org/drawingml/2006/main">
              <a:ext uri="{FF2B5EF4-FFF2-40B4-BE49-F238E27FC236}">
                <a16:creationId xmlns:a16="http://schemas.microsoft.com/office/drawing/2014/main" id="{5BD1E18F-F579-49DE-8944-8BF5C84A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6943725"/>
            <a:ext cx="95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981B"/>
          </a:solidFill>
          <a:ln xmlns:a="http://schemas.openxmlformats.org/drawingml/2006/main" w="0">
            <a:solidFill>
              <a:srgbClr val="DB981B"/>
            </a:solidFill>
            <a:prstDash val="solid"/>
          </a:ln>
        </p:spPr>
      </p:sp>
      <p:sp>
        <p:nvSpPr>
          <p:cNvPr id="1122" name="tail-bar-8">
            <a:extLst xmlns:a="http://schemas.openxmlformats.org/drawingml/2006/main">
              <a:ext uri="{FF2B5EF4-FFF2-40B4-BE49-F238E27FC236}">
                <a16:creationId xmlns:a16="http://schemas.microsoft.com/office/drawing/2014/main" id="{257897F7-9BC8-45D2-903A-3637E090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6638925"/>
            <a:ext cx="95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981B"/>
          </a:solidFill>
          <a:ln xmlns:a="http://schemas.openxmlformats.org/drawingml/2006/main" w="0">
            <a:solidFill>
              <a:srgbClr val="DB981B"/>
            </a:solidFill>
            <a:prstDash val="solid"/>
          </a:ln>
        </p:spPr>
      </p:sp>
      <p:sp>
        <p:nvSpPr>
          <p:cNvPr id="1123" name="tail-bar-9">
            <a:extLst xmlns:a="http://schemas.openxmlformats.org/drawingml/2006/main">
              <a:ext uri="{FF2B5EF4-FFF2-40B4-BE49-F238E27FC236}">
                <a16:creationId xmlns:a16="http://schemas.microsoft.com/office/drawing/2014/main" id="{17DAE9B2-9ADE-47D9-9E52-BC6AA26E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6924675"/>
            <a:ext cx="95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981B"/>
          </a:solidFill>
          <a:ln xmlns:a="http://schemas.openxmlformats.org/drawingml/2006/main" w="0">
            <a:solidFill>
              <a:srgbClr val="DB981B"/>
            </a:solidFill>
            <a:prstDash val="solid"/>
          </a:ln>
        </p:spPr>
      </p:sp>
      <p:sp>
        <p:nvSpPr>
          <p:cNvPr id="1124" name="tail-bar-10">
            <a:extLst xmlns:a="http://schemas.openxmlformats.org/drawingml/2006/main">
              <a:ext uri="{FF2B5EF4-FFF2-40B4-BE49-F238E27FC236}">
                <a16:creationId xmlns:a16="http://schemas.microsoft.com/office/drawing/2014/main" id="{714A7F65-1B28-4414-894A-5F1D93C7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5350" y="6096000"/>
            <a:ext cx="95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3F4B"/>
          </a:solidFill>
          <a:ln xmlns:a="http://schemas.openxmlformats.org/drawingml/2006/main" w="0">
            <a:solidFill>
              <a:srgbClr val="BE3F4B"/>
            </a:solidFill>
            <a:prstDash val="solid"/>
          </a:ln>
        </p:spPr>
      </p:sp>
      <p:sp>
        <p:nvSpPr>
          <p:cNvPr id="1125" name="tail-bar-11">
            <a:extLst xmlns:a="http://schemas.openxmlformats.org/drawingml/2006/main">
              <a:ext uri="{FF2B5EF4-FFF2-40B4-BE49-F238E27FC236}">
                <a16:creationId xmlns:a16="http://schemas.microsoft.com/office/drawing/2014/main" id="{4F51200B-124F-4565-B12C-1C5DA6CB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6886575"/>
            <a:ext cx="95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981B"/>
          </a:solidFill>
          <a:ln xmlns:a="http://schemas.openxmlformats.org/drawingml/2006/main" w="0">
            <a:solidFill>
              <a:srgbClr val="DB981B"/>
            </a:solidFill>
            <a:prstDash val="solid"/>
          </a:ln>
        </p:spPr>
      </p:sp>
      <p:sp>
        <p:nvSpPr>
          <p:cNvPr id="1126" name="tail-bar-12">
            <a:extLst xmlns:a="http://schemas.openxmlformats.org/drawingml/2006/main">
              <a:ext uri="{FF2B5EF4-FFF2-40B4-BE49-F238E27FC236}">
                <a16:creationId xmlns:a16="http://schemas.microsoft.com/office/drawing/2014/main" id="{DE419217-E5A0-469C-9EED-66DF108A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0150" y="6953250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981B"/>
          </a:solidFill>
          <a:ln xmlns:a="http://schemas.openxmlformats.org/drawingml/2006/main" w="0">
            <a:solidFill>
              <a:srgbClr val="DB981B"/>
            </a:solidFill>
            <a:prstDash val="solid"/>
          </a:ln>
        </p:spPr>
      </p:sp>
      <p:sp>
        <p:nvSpPr>
          <p:cNvPr id="1127" name="tail-bar-13">
            <a:extLst xmlns:a="http://schemas.openxmlformats.org/drawingml/2006/main">
              <a:ext uri="{FF2B5EF4-FFF2-40B4-BE49-F238E27FC236}">
                <a16:creationId xmlns:a16="http://schemas.microsoft.com/office/drawing/2014/main" id="{5F4CE090-192B-4E1F-A35D-F72A245B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2550" y="674370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981B"/>
          </a:solidFill>
          <a:ln xmlns:a="http://schemas.openxmlformats.org/drawingml/2006/main" w="0">
            <a:solidFill>
              <a:srgbClr val="DB981B"/>
            </a:solidFill>
            <a:prstDash val="solid"/>
          </a:ln>
        </p:spPr>
      </p:sp>
      <p:sp>
        <p:nvSpPr>
          <p:cNvPr id="1128" name="tail-bar-14">
            <a:extLst xmlns:a="http://schemas.openxmlformats.org/drawingml/2006/main">
              <a:ext uri="{FF2B5EF4-FFF2-40B4-BE49-F238E27FC236}">
                <a16:creationId xmlns:a16="http://schemas.microsoft.com/office/drawing/2014/main" id="{4EBC8E84-D57A-419D-9F4B-F53035E5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6848475"/>
            <a:ext cx="95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981B"/>
          </a:solidFill>
          <a:ln xmlns:a="http://schemas.openxmlformats.org/drawingml/2006/main" w="0">
            <a:solidFill>
              <a:srgbClr val="DB981B"/>
            </a:solidFill>
            <a:prstDash val="solid"/>
          </a:ln>
        </p:spPr>
      </p:sp>
      <p:sp>
        <p:nvSpPr>
          <p:cNvPr id="1129" name="tail-bar-15">
            <a:extLst xmlns:a="http://schemas.openxmlformats.org/drawingml/2006/main">
              <a:ext uri="{FF2B5EF4-FFF2-40B4-BE49-F238E27FC236}">
                <a16:creationId xmlns:a16="http://schemas.microsoft.com/office/drawing/2014/main" id="{1BFDCC3D-74AE-4699-8EC7-C70BF2DC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6800850"/>
            <a:ext cx="95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981B"/>
          </a:solidFill>
          <a:ln xmlns:a="http://schemas.openxmlformats.org/drawingml/2006/main" w="0">
            <a:solidFill>
              <a:srgbClr val="DB981B"/>
            </a:solidFill>
            <a:prstDash val="solid"/>
          </a:ln>
        </p:spPr>
      </p:sp>
      <p:sp>
        <p:nvSpPr>
          <p:cNvPr id="1130" name="tail-base">
            <a:extLst xmlns:a="http://schemas.openxmlformats.org/drawingml/2006/main">
              <a:ext uri="{FF2B5EF4-FFF2-40B4-BE49-F238E27FC236}">
                <a16:creationId xmlns:a16="http://schemas.microsoft.com/office/drawing/2014/main" id="{91CFB861-704A-4494-AA3B-2C010401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7115175"/>
            <a:ext cx="2457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8D3"/>
            </a:solidFill>
            <a:prstDash val="solid"/>
          </a:ln>
        </p:spPr>
      </p:sp>
      <p:sp>
        <p:nvSpPr>
          <p:cNvPr id="1131" name="tail-amp">
            <a:extLst xmlns:a="http://schemas.openxmlformats.org/drawingml/2006/main">
              <a:ext uri="{FF2B5EF4-FFF2-40B4-BE49-F238E27FC236}">
                <a16:creationId xmlns:a16="http://schemas.microsoft.com/office/drawing/2014/main" id="{CF9A2515-FCE9-4A68-A60A-FAD62A62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71342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825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825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825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825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825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825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825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825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825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825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E3F4B"/>
                </a:solidFill>
                <a:latin typeface="Arial"/>
                <a:ea typeface="Arial"/>
                <a:cs typeface="Arial"/>
              </a:rPr>
              <a:t>1.29% extreme-spread amplitude</a:t>
            </a:r>
          </a:p>
        </p:txBody>
      </p:sp>
      <p:sp>
        <p:nvSpPr>
          <p:cNvPr id="1132" name="stage-4-body">
            <a:extLst xmlns:a="http://schemas.openxmlformats.org/drawingml/2006/main">
              <a:ext uri="{FF2B5EF4-FFF2-40B4-BE49-F238E27FC236}">
                <a16:creationId xmlns:a16="http://schemas.microsoft.com/office/drawing/2014/main" id="{8B571EDE-5F0B-45A1-B7AD-40BA8072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4175" y="7315200"/>
            <a:ext cx="28956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1000"/>
              </a:lnSpc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51A1E"/>
                </a:solidFill>
                <a:latin typeface="Arial"/>
                <a:ea typeface="Arial"/>
                <a:cs typeface="Arial"/>
              </a:rPr>
              <a:t>Negative-price adapters, peak scaling, probability gates, Beta/GPD and Chronos-2 heads rarely survived cross-market, multi-seed gates.</a:t>
            </a:r>
          </a:p>
        </p:txBody>
      </p:sp>
      <p:sp>
        <p:nvSpPr>
          <p:cNvPr id="1133" name="stage-chevron-4">
            <a:extLst xmlns:a="http://schemas.openxmlformats.org/drawingml/2006/main">
              <a:ext uri="{FF2B5EF4-FFF2-40B4-BE49-F238E27FC236}">
                <a16:creationId xmlns:a16="http://schemas.microsoft.com/office/drawing/2014/main" id="{BA00CC89-1A1D-4F1B-8856-4FCA4026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1225" y="6715125"/>
            <a:ext cx="171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8AA4B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AA4B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134" name="stage-5-bg">
            <a:extLst xmlns:a="http://schemas.openxmlformats.org/drawingml/2006/main">
              <a:ext uri="{FF2B5EF4-FFF2-40B4-BE49-F238E27FC236}">
                <a16:creationId xmlns:a16="http://schemas.microsoft.com/office/drawing/2014/main" id="{B20679D2-5A88-44B1-91AD-6FAE31C3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3625" y="4914900"/>
            <a:ext cx="327660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2"/>
          </a:solidFill>
          <a:ln xmlns:a="http://schemas.openxmlformats.org/drawingml/2006/main" w="11430">
            <a:solidFill>
              <a:srgbClr val="D2DDE5"/>
            </a:solidFill>
            <a:prstDash val="solid"/>
          </a:ln>
        </p:spPr>
      </p:sp>
      <p:sp>
        <p:nvSpPr>
          <p:cNvPr id="1135" name="stage-5-accent">
            <a:extLst xmlns:a="http://schemas.openxmlformats.org/drawingml/2006/main">
              <a:ext uri="{FF2B5EF4-FFF2-40B4-BE49-F238E27FC236}">
                <a16:creationId xmlns:a16="http://schemas.microsoft.com/office/drawing/2014/main" id="{C190CFBE-86F4-4994-BD60-A695B8FE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3625" y="4914900"/>
            <a:ext cx="3276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477"/>
          </a:solidFill>
          <a:ln xmlns:a="http://schemas.openxmlformats.org/drawingml/2006/main" w="0">
            <a:solidFill>
              <a:srgbClr val="138477"/>
            </a:solidFill>
            <a:prstDash val="solid"/>
          </a:ln>
        </p:spPr>
      </p:sp>
      <p:sp>
        <p:nvSpPr>
          <p:cNvPr id="1136" name="stage-5-label">
            <a:extLst xmlns:a="http://schemas.openxmlformats.org/drawingml/2006/main">
              <a:ext uri="{FF2B5EF4-FFF2-40B4-BE49-F238E27FC236}">
                <a16:creationId xmlns:a16="http://schemas.microsoft.com/office/drawing/2014/main" id="{228B11A7-F373-44F0-A097-06124E74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6975" y="51435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8477"/>
                </a:solidFill>
                <a:latin typeface="Arial"/>
                <a:ea typeface="Arial"/>
                <a:cs typeface="Arial"/>
              </a:rPr>
              <a:t>STAGE 5</a:t>
            </a:r>
          </a:p>
        </p:txBody>
      </p:sp>
      <p:sp>
        <p:nvSpPr>
          <p:cNvPr id="1137" name="stage-5-title">
            <a:extLst xmlns:a="http://schemas.openxmlformats.org/drawingml/2006/main">
              <a:ext uri="{FF2B5EF4-FFF2-40B4-BE49-F238E27FC236}">
                <a16:creationId xmlns:a16="http://schemas.microsoft.com/office/drawing/2014/main" id="{DFB18CF6-DACE-4033-9B25-3669EA55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7925" y="54197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Expert selection</a:t>
            </a:r>
          </a:p>
        </p:txBody>
      </p:sp>
      <p:sp>
        <p:nvSpPr>
          <p:cNvPr id="1138" name="router-a">
            <a:extLst xmlns:a="http://schemas.openxmlformats.org/drawingml/2006/main">
              <a:ext uri="{FF2B5EF4-FFF2-40B4-BE49-F238E27FC236}">
                <a16:creationId xmlns:a16="http://schemas.microsoft.com/office/drawing/2014/main" id="{B27FDD4F-62F8-4B0E-9516-5FF9F5E7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9875" y="6143625"/>
            <a:ext cx="8572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38477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DLinear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</a:t>
            </a:r>
          </a:p>
        </p:txBody>
      </p:sp>
      <p:sp>
        <p:nvSpPr>
          <p:cNvPr id="1139" name="router-b">
            <a:extLst xmlns:a="http://schemas.openxmlformats.org/drawingml/2006/main">
              <a:ext uri="{FF2B5EF4-FFF2-40B4-BE49-F238E27FC236}">
                <a16:creationId xmlns:a16="http://schemas.microsoft.com/office/drawing/2014/main" id="{5C43E764-4BB4-46E1-8F7C-15682A93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6725" y="6143625"/>
            <a:ext cx="8572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38477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Transformer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RT</a:t>
            </a:r>
          </a:p>
        </p:txBody>
      </p:sp>
      <p:sp>
        <p:nvSpPr>
          <p:cNvPr id="1140" name="router-mid">
            <a:extLst xmlns:a="http://schemas.openxmlformats.org/drawingml/2006/main">
              <a:ext uri="{FF2B5EF4-FFF2-40B4-BE49-F238E27FC236}">
                <a16:creationId xmlns:a16="http://schemas.microsoft.com/office/drawing/2014/main" id="{96467EDA-4950-47F4-813B-E89AE990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6648450"/>
            <a:ext cx="1047750" cy="3333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6F2"/>
          </a:solidFill>
          <a:ln xmlns:a="http://schemas.openxmlformats.org/drawingml/2006/main" w="11430">
            <a:solidFill>
              <a:srgbClr val="138477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38477"/>
                </a:solidFill>
                <a:latin typeface="Arial"/>
                <a:ea typeface="Arial"/>
                <a:cs typeface="Arial"/>
              </a:rPr>
              <a:t>depth-2 router</a:t>
            </a:r>
          </a:p>
        </p:txBody>
      </p:sp>
      <p:sp>
        <p:nvSpPr>
          <p:cNvPr id="1143" name="router-score">
            <a:extLst xmlns:a="http://schemas.openxmlformats.org/drawingml/2006/main">
              <a:ext uri="{FF2B5EF4-FFF2-40B4-BE49-F238E27FC236}">
                <a16:creationId xmlns:a16="http://schemas.microsoft.com/office/drawing/2014/main" id="{0CAC59E6-4B7D-4245-B625-E92A87E6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4675" y="70008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38477"/>
                </a:solidFill>
                <a:latin typeface="Arial"/>
                <a:ea typeface="Arial"/>
                <a:cs typeface="Arial"/>
              </a:rPr>
              <a:t>63.53 USD/node-day</a:t>
            </a:r>
          </a:p>
        </p:txBody>
      </p:sp>
      <p:sp>
        <p:nvSpPr>
          <p:cNvPr id="1144" name="stage-5-body">
            <a:extLst xmlns:a="http://schemas.openxmlformats.org/drawingml/2006/main">
              <a:ext uri="{FF2B5EF4-FFF2-40B4-BE49-F238E27FC236}">
                <a16:creationId xmlns:a16="http://schemas.microsoft.com/office/drawing/2014/main" id="{D04DA5BA-AD7A-4CAB-8CD5-6C472B52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4125" y="7315200"/>
            <a:ext cx="28956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1000"/>
              </a:lnSpc>
              <a:buNone/>
              <a:defRPr sz="1275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51A1E"/>
                </a:solidFill>
                <a:latin typeface="Arial"/>
                <a:ea typeface="Arial"/>
                <a:cs typeface="Arial"/>
              </a:rPr>
              <a:t>DLinear DA positions and Transformer rolling corrections were combined. The router improved the point estimate, while its confidence interval crossed zero.</a:t>
            </a:r>
          </a:p>
        </p:txBody>
      </p:sp>
      <p:sp>
        <p:nvSpPr>
          <p:cNvPr id="1145" name="background-title">
            <a:extLst xmlns:a="http://schemas.openxmlformats.org/drawingml/2006/main">
              <a:ext uri="{FF2B5EF4-FFF2-40B4-BE49-F238E27FC236}">
                <a16:creationId xmlns:a16="http://schemas.microsoft.com/office/drawing/2014/main" id="{B5F296F0-0BF0-4160-8E92-EFF978AB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391650"/>
            <a:ext cx="2034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Background and system overview</a:t>
            </a:r>
          </a:p>
        </p:txBody>
      </p:sp>
      <p:sp>
        <p:nvSpPr>
          <p:cNvPr id="1146" name="background-rule">
            <a:extLst xmlns:a="http://schemas.openxmlformats.org/drawingml/2006/main">
              <a:ext uri="{FF2B5EF4-FFF2-40B4-BE49-F238E27FC236}">
                <a16:creationId xmlns:a16="http://schemas.microsoft.com/office/drawing/2014/main" id="{B11F5E5F-8DEE-4978-98EC-3EC86B34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896475"/>
            <a:ext cx="2034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2A43"/>
            </a:solidFill>
            <a:prstDash val="solid"/>
          </a:ln>
        </p:spPr>
      </p:sp>
      <p:sp>
        <p:nvSpPr>
          <p:cNvPr id="1147" name="background-copy">
            <a:extLst xmlns:a="http://schemas.openxmlformats.org/drawingml/2006/main">
              <a:ext uri="{FF2B5EF4-FFF2-40B4-BE49-F238E27FC236}">
                <a16:creationId xmlns:a16="http://schemas.microsoft.com/office/drawing/2014/main" id="{FFA80C4B-B143-4B69-B7B6-EF268663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39350"/>
            <a:ext cx="590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852"/>
          </a:bodyPr>
          <a:lstStyle xmlns:a="http://schemas.openxmlformats.org/drawingml/2006/main">
            <a:defPPr>
              <a:defRPr sz="2100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4000"/>
              </a:lnSpc>
              <a:buNone/>
              <a:defRPr sz="2100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51A1E"/>
                </a:solidFill>
                <a:latin typeface="Arial"/>
                <a:ea typeface="Arial"/>
                <a:cs typeface="Arial"/>
              </a:rPr>
              <a:t>Battery trading couples forecasts made at different information times. Day-ahead prices determine the initial 24-hour plan, while real-time prices drive corrections after the plan has been locked. A model can lower average error and still reduce revenue when rare spreads change the charge or discharge action.</a:t>
            </a:r>
          </a:p>
        </p:txBody>
      </p:sp>
      <p:sp>
        <p:nvSpPr>
          <p:cNvPr id="1148" name="research-question-heading">
            <a:extLst xmlns:a="http://schemas.openxmlformats.org/drawingml/2006/main">
              <a:ext uri="{FF2B5EF4-FFF2-40B4-BE49-F238E27FC236}">
                <a16:creationId xmlns:a16="http://schemas.microsoft.com/office/drawing/2014/main" id="{E38CFAB0-C68B-4CDF-9F80-40E46222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872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21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Research question</a:t>
            </a:r>
          </a:p>
        </p:txBody>
      </p:sp>
      <p:sp>
        <p:nvSpPr>
          <p:cNvPr id="1149" name="research-question-box">
            <a:extLst xmlns:a="http://schemas.openxmlformats.org/drawingml/2006/main">
              <a:ext uri="{FF2B5EF4-FFF2-40B4-BE49-F238E27FC236}">
                <a16:creationId xmlns:a16="http://schemas.microsoft.com/office/drawing/2014/main" id="{F6E7A0A7-CCA8-4016-8298-6B3AD266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306300"/>
            <a:ext cx="590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A"/>
          </a:solidFill>
          <a:ln xmlns:a="http://schemas.openxmlformats.org/drawingml/2006/main" w="19050">
            <a:solidFill>
              <a:srgbClr val="6EA8CC"/>
            </a:solidFill>
            <a:prstDash val="solid"/>
          </a:ln>
        </p:spPr>
      </p:sp>
      <p:sp>
        <p:nvSpPr>
          <p:cNvPr id="1150" name="research-question-text">
            <a:extLst xmlns:a="http://schemas.openxmlformats.org/drawingml/2006/main">
              <a:ext uri="{FF2B5EF4-FFF2-40B4-BE49-F238E27FC236}">
                <a16:creationId xmlns:a16="http://schemas.microsoft.com/office/drawing/2014/main" id="{9B5AE593-FF08-43DC-9348-C49EDB0E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439650"/>
            <a:ext cx="5562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750"/>
          </a:bodyPr>
          <a:lstStyle xmlns:a="http://schemas.openxmlformats.org/drawingml/2006/main">
            <a:defPPr>
              <a:defRPr sz="18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2000"/>
              </a:lnSpc>
              <a:buNone/>
              <a:defRPr sz="18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Can one information-safe model transfer across markets, support three forecast issue times and improve the battery decisions produced from those forecasts?</a:t>
            </a:r>
          </a:p>
        </p:txBody>
      </p:sp>
      <p:sp>
        <p:nvSpPr>
          <p:cNvPr id="1151" name="contract-overview-title">
            <a:extLst xmlns:a="http://schemas.openxmlformats.org/drawingml/2006/main">
              <a:ext uri="{FF2B5EF4-FFF2-40B4-BE49-F238E27FC236}">
                <a16:creationId xmlns:a16="http://schemas.microsoft.com/office/drawing/2014/main" id="{CF2A58C6-22A5-4887-B0C0-36509450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886950"/>
            <a:ext cx="1390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22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2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2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2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2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2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2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2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2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Frozen experimental contract</a:t>
            </a:r>
          </a:p>
        </p:txBody>
      </p:sp>
      <p:sp>
        <p:nvSpPr>
          <p:cNvPr id="1152" name="contract-row-0">
            <a:extLst xmlns:a="http://schemas.openxmlformats.org/drawingml/2006/main">
              <a:ext uri="{FF2B5EF4-FFF2-40B4-BE49-F238E27FC236}">
                <a16:creationId xmlns:a16="http://schemas.microsoft.com/office/drawing/2014/main" id="{C8BC2DFC-F436-4B96-BDF8-CE0689B3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0382250"/>
            <a:ext cx="13906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A"/>
          </a:solidFill>
          <a:ln xmlns:a="http://schemas.openxmlformats.org/drawingml/2006/main" w="11430">
            <a:solidFill>
              <a:srgbClr val="9EADB8"/>
            </a:solidFill>
            <a:prstDash val="solid"/>
          </a:ln>
        </p:spPr>
      </p:sp>
      <p:sp>
        <p:nvSpPr>
          <p:cNvPr id="1153" name="contract-label-bg-0">
            <a:extLst xmlns:a="http://schemas.openxmlformats.org/drawingml/2006/main">
              <a:ext uri="{FF2B5EF4-FFF2-40B4-BE49-F238E27FC236}">
                <a16:creationId xmlns:a16="http://schemas.microsoft.com/office/drawing/2014/main" id="{F552FEE6-5E90-4E66-940C-5125941A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0382250"/>
            <a:ext cx="17907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69AA"/>
            </a:solidFill>
            <a:prstDash val="solid"/>
          </a:ln>
        </p:spPr>
      </p:sp>
      <p:sp>
        <p:nvSpPr>
          <p:cNvPr id="1154" name="contract-label-0">
            <a:extLst xmlns:a="http://schemas.openxmlformats.org/drawingml/2006/main">
              <a:ext uri="{FF2B5EF4-FFF2-40B4-BE49-F238E27FC236}">
                <a16:creationId xmlns:a16="http://schemas.microsoft.com/office/drawing/2014/main" id="{CEB45C0A-6F28-4818-B364-54DA7DE1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05537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INFORMATION</a:t>
            </a:r>
          </a:p>
        </p:txBody>
      </p:sp>
      <p:sp>
        <p:nvSpPr>
          <p:cNvPr id="1155" name="contract-row-1">
            <a:extLst xmlns:a="http://schemas.openxmlformats.org/drawingml/2006/main">
              <a:ext uri="{FF2B5EF4-FFF2-40B4-BE49-F238E27FC236}">
                <a16:creationId xmlns:a16="http://schemas.microsoft.com/office/drawing/2014/main" id="{3167BFE9-D14B-412A-92B5-4AD41E63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649075"/>
            <a:ext cx="13906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2"/>
          </a:solidFill>
          <a:ln xmlns:a="http://schemas.openxmlformats.org/drawingml/2006/main" w="11430">
            <a:solidFill>
              <a:srgbClr val="9EADB8"/>
            </a:solidFill>
            <a:prstDash val="solid"/>
          </a:ln>
        </p:spPr>
      </p:sp>
      <p:sp>
        <p:nvSpPr>
          <p:cNvPr id="1156" name="contract-label-bg-1">
            <a:extLst xmlns:a="http://schemas.openxmlformats.org/drawingml/2006/main">
              <a:ext uri="{FF2B5EF4-FFF2-40B4-BE49-F238E27FC236}">
                <a16:creationId xmlns:a16="http://schemas.microsoft.com/office/drawing/2014/main" id="{D7942E30-4FF5-4246-BB5D-763745CB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649075"/>
            <a:ext cx="17907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B981B"/>
            </a:solidFill>
            <a:prstDash val="solid"/>
          </a:ln>
        </p:spPr>
      </p:sp>
      <p:sp>
        <p:nvSpPr>
          <p:cNvPr id="1157" name="contract-label-1">
            <a:extLst xmlns:a="http://schemas.openxmlformats.org/drawingml/2006/main">
              <a:ext uri="{FF2B5EF4-FFF2-40B4-BE49-F238E27FC236}">
                <a16:creationId xmlns:a16="http://schemas.microsoft.com/office/drawing/2014/main" id="{76769A5F-8187-438C-B3F4-ECAB8DB9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1820525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DB981B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1">
                <a:solidFill>
                  <a:srgbClr val="DB981B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1">
                <a:solidFill>
                  <a:srgbClr val="DB981B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1">
                <a:solidFill>
                  <a:srgbClr val="DB981B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1">
                <a:solidFill>
                  <a:srgbClr val="DB981B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1">
                <a:solidFill>
                  <a:srgbClr val="DB981B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1">
                <a:solidFill>
                  <a:srgbClr val="DB981B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1">
                <a:solidFill>
                  <a:srgbClr val="DB981B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1">
                <a:solidFill>
                  <a:srgbClr val="DB981B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1">
                <a:solidFill>
                  <a:srgbClr val="DB98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DB981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B981B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1158" name="contract-row-2">
            <a:extLst xmlns:a="http://schemas.openxmlformats.org/drawingml/2006/main">
              <a:ext uri="{FF2B5EF4-FFF2-40B4-BE49-F238E27FC236}">
                <a16:creationId xmlns:a16="http://schemas.microsoft.com/office/drawing/2014/main" id="{C6F05CAB-5D28-4A8D-B211-5F5A93BE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915900"/>
            <a:ext cx="13906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2"/>
          </a:solidFill>
          <a:ln xmlns:a="http://schemas.openxmlformats.org/drawingml/2006/main" w="11430">
            <a:solidFill>
              <a:srgbClr val="9EADB8"/>
            </a:solidFill>
            <a:prstDash val="solid"/>
          </a:ln>
        </p:spPr>
      </p:sp>
      <p:sp>
        <p:nvSpPr>
          <p:cNvPr id="1159" name="contract-label-bg-2">
            <a:extLst xmlns:a="http://schemas.openxmlformats.org/drawingml/2006/main">
              <a:ext uri="{FF2B5EF4-FFF2-40B4-BE49-F238E27FC236}">
                <a16:creationId xmlns:a16="http://schemas.microsoft.com/office/drawing/2014/main" id="{4C0D5DA3-F9F8-4C35-9790-E6566466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915900"/>
            <a:ext cx="17907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38477"/>
            </a:solidFill>
            <a:prstDash val="solid"/>
          </a:ln>
        </p:spPr>
      </p:sp>
      <p:sp>
        <p:nvSpPr>
          <p:cNvPr id="1160" name="contract-label-2">
            <a:extLst xmlns:a="http://schemas.openxmlformats.org/drawingml/2006/main">
              <a:ext uri="{FF2B5EF4-FFF2-40B4-BE49-F238E27FC236}">
                <a16:creationId xmlns:a16="http://schemas.microsoft.com/office/drawing/2014/main" id="{B0EC261E-23CF-48D6-A992-9EF925B0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308735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477"/>
                </a:solidFill>
                <a:latin typeface="Arial"/>
                <a:ea typeface="Arial"/>
                <a:cs typeface="Arial"/>
              </a:rPr>
              <a:t>BATTERY</a:t>
            </a:r>
          </a:p>
        </p:txBody>
      </p:sp>
      <p:sp>
        <p:nvSpPr>
          <p:cNvPr id="1161" name="information-question">
            <a:extLst xmlns:a="http://schemas.openxmlformats.org/drawingml/2006/main">
              <a:ext uri="{FF2B5EF4-FFF2-40B4-BE49-F238E27FC236}">
                <a16:creationId xmlns:a16="http://schemas.microsoft.com/office/drawing/2014/main" id="{7EC70C02-9778-455C-9924-D30AE12E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09156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2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2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2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2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2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2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2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2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2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What is available?</a:t>
            </a:r>
          </a:p>
        </p:txBody>
      </p:sp>
      <p:sp>
        <p:nvSpPr>
          <p:cNvPr id="1162" name="cutoff-0">
            <a:extLst xmlns:a="http://schemas.openxmlformats.org/drawingml/2006/main">
              <a:ext uri="{FF2B5EF4-FFF2-40B4-BE49-F238E27FC236}">
                <a16:creationId xmlns:a16="http://schemas.microsoft.com/office/drawing/2014/main" id="{E486466E-9BAB-458A-AD20-E77D1C7B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0610850"/>
            <a:ext cx="1524000" cy="6286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769AA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>
                <a:latin typeface="Arial"/>
                <a:ea typeface="Arial"/>
                <a:cs typeface="Arial"/>
              </a:defRPr>
            </a:defPPr>
            <a:lvl1pPr algn="ctr">
              <a:buNone/>
              <a:defRPr>
                <a:latin typeface="Arial"/>
                <a:ea typeface="Arial"/>
                <a:cs typeface="Arial"/>
              </a:defRPr>
            </a:lvl1pPr>
            <a:lvl2pPr algn="ctr">
              <a:buNone/>
              <a:defRPr>
                <a:latin typeface="Arial"/>
                <a:ea typeface="Arial"/>
                <a:cs typeface="Arial"/>
              </a:defRPr>
            </a:lvl2pPr>
            <a:lvl3pPr algn="ctr">
              <a:buNone/>
              <a:defRPr>
                <a:latin typeface="Arial"/>
                <a:ea typeface="Arial"/>
                <a:cs typeface="Arial"/>
              </a:defRPr>
            </a:lvl3pPr>
            <a:lvl4pPr algn="ctr">
              <a:buNone/>
              <a:defRPr>
                <a:latin typeface="Arial"/>
                <a:ea typeface="Arial"/>
                <a:cs typeface="Arial"/>
              </a:defRPr>
            </a:lvl4pPr>
            <a:lvl5pPr algn="ctr">
              <a:buNone/>
              <a:defRPr>
                <a:latin typeface="Arial"/>
                <a:ea typeface="Arial"/>
                <a:cs typeface="Arial"/>
              </a:defRPr>
            </a:lvl5pPr>
            <a:lvl6pPr algn="ctr">
              <a:buNone/>
              <a:defRPr>
                <a:latin typeface="Arial"/>
                <a:ea typeface="Arial"/>
                <a:cs typeface="Arial"/>
              </a:defRPr>
            </a:lvl6pPr>
            <a:lvl7pPr algn="ctr">
              <a:buNone/>
              <a:defRPr>
                <a:latin typeface="Arial"/>
                <a:ea typeface="Arial"/>
                <a:cs typeface="Arial"/>
              </a:defRPr>
            </a:lvl7pPr>
            <a:lvl8pPr algn="ctr">
              <a:buNone/>
              <a:defRPr>
                <a:latin typeface="Arial"/>
                <a:ea typeface="Arial"/>
                <a:cs typeface="Arial"/>
              </a:defRPr>
            </a:lvl8pPr>
            <a:lvl9pPr algn="ctr">
              <a:buNone/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NYISO</a:t>
            </a:r>
          </a:p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05:00 ET</a:t>
            </a:r>
          </a:p>
        </p:txBody>
      </p:sp>
      <p:sp>
        <p:nvSpPr>
          <p:cNvPr id="1163" name="cutoff-1">
            <a:extLst xmlns:a="http://schemas.openxmlformats.org/drawingml/2006/main">
              <a:ext uri="{FF2B5EF4-FFF2-40B4-BE49-F238E27FC236}">
                <a16:creationId xmlns:a16="http://schemas.microsoft.com/office/drawing/2014/main" id="{235012DC-C259-411E-9712-E7F7F3DE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0610850"/>
            <a:ext cx="1524000" cy="6286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769AA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>
                <a:latin typeface="Arial"/>
                <a:ea typeface="Arial"/>
                <a:cs typeface="Arial"/>
              </a:defRPr>
            </a:defPPr>
            <a:lvl1pPr algn="ctr">
              <a:buNone/>
              <a:defRPr>
                <a:latin typeface="Arial"/>
                <a:ea typeface="Arial"/>
                <a:cs typeface="Arial"/>
              </a:defRPr>
            </a:lvl1pPr>
            <a:lvl2pPr algn="ctr">
              <a:buNone/>
              <a:defRPr>
                <a:latin typeface="Arial"/>
                <a:ea typeface="Arial"/>
                <a:cs typeface="Arial"/>
              </a:defRPr>
            </a:lvl2pPr>
            <a:lvl3pPr algn="ctr">
              <a:buNone/>
              <a:defRPr>
                <a:latin typeface="Arial"/>
                <a:ea typeface="Arial"/>
                <a:cs typeface="Arial"/>
              </a:defRPr>
            </a:lvl3pPr>
            <a:lvl4pPr algn="ctr">
              <a:buNone/>
              <a:defRPr>
                <a:latin typeface="Arial"/>
                <a:ea typeface="Arial"/>
                <a:cs typeface="Arial"/>
              </a:defRPr>
            </a:lvl4pPr>
            <a:lvl5pPr algn="ctr">
              <a:buNone/>
              <a:defRPr>
                <a:latin typeface="Arial"/>
                <a:ea typeface="Arial"/>
                <a:cs typeface="Arial"/>
              </a:defRPr>
            </a:lvl5pPr>
            <a:lvl6pPr algn="ctr">
              <a:buNone/>
              <a:defRPr>
                <a:latin typeface="Arial"/>
                <a:ea typeface="Arial"/>
                <a:cs typeface="Arial"/>
              </a:defRPr>
            </a:lvl6pPr>
            <a:lvl7pPr algn="ctr">
              <a:buNone/>
              <a:defRPr>
                <a:latin typeface="Arial"/>
                <a:ea typeface="Arial"/>
                <a:cs typeface="Arial"/>
              </a:defRPr>
            </a:lvl7pPr>
            <a:lvl8pPr algn="ctr">
              <a:buNone/>
              <a:defRPr>
                <a:latin typeface="Arial"/>
                <a:ea typeface="Arial"/>
                <a:cs typeface="Arial"/>
              </a:defRPr>
            </a:lvl8pPr>
            <a:lvl9pPr algn="ctr">
              <a:buNone/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CAISO</a:t>
            </a:r>
          </a:p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10:00 PT</a:t>
            </a:r>
          </a:p>
        </p:txBody>
      </p:sp>
      <p:sp>
        <p:nvSpPr>
          <p:cNvPr id="1164" name="cutoff-2">
            <a:extLst xmlns:a="http://schemas.openxmlformats.org/drawingml/2006/main">
              <a:ext uri="{FF2B5EF4-FFF2-40B4-BE49-F238E27FC236}">
                <a16:creationId xmlns:a16="http://schemas.microsoft.com/office/drawing/2014/main" id="{0D0A7CEC-6BA4-4925-89AD-B499190B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10610850"/>
            <a:ext cx="1524000" cy="6286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769AA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>
                <a:latin typeface="Arial"/>
                <a:ea typeface="Arial"/>
                <a:cs typeface="Arial"/>
              </a:defRPr>
            </a:defPPr>
            <a:lvl1pPr algn="ctr">
              <a:buNone/>
              <a:defRPr>
                <a:latin typeface="Arial"/>
                <a:ea typeface="Arial"/>
                <a:cs typeface="Arial"/>
              </a:defRPr>
            </a:lvl1pPr>
            <a:lvl2pPr algn="ctr">
              <a:buNone/>
              <a:defRPr>
                <a:latin typeface="Arial"/>
                <a:ea typeface="Arial"/>
                <a:cs typeface="Arial"/>
              </a:defRPr>
            </a:lvl2pPr>
            <a:lvl3pPr algn="ctr">
              <a:buNone/>
              <a:defRPr>
                <a:latin typeface="Arial"/>
                <a:ea typeface="Arial"/>
                <a:cs typeface="Arial"/>
              </a:defRPr>
            </a:lvl3pPr>
            <a:lvl4pPr algn="ctr">
              <a:buNone/>
              <a:defRPr>
                <a:latin typeface="Arial"/>
                <a:ea typeface="Arial"/>
                <a:cs typeface="Arial"/>
              </a:defRPr>
            </a:lvl4pPr>
            <a:lvl5pPr algn="ctr">
              <a:buNone/>
              <a:defRPr>
                <a:latin typeface="Arial"/>
                <a:ea typeface="Arial"/>
                <a:cs typeface="Arial"/>
              </a:defRPr>
            </a:lvl5pPr>
            <a:lvl6pPr algn="ctr">
              <a:buNone/>
              <a:defRPr>
                <a:latin typeface="Arial"/>
                <a:ea typeface="Arial"/>
                <a:cs typeface="Arial"/>
              </a:defRPr>
            </a:lvl6pPr>
            <a:lvl7pPr algn="ctr">
              <a:buNone/>
              <a:defRPr>
                <a:latin typeface="Arial"/>
                <a:ea typeface="Arial"/>
                <a:cs typeface="Arial"/>
              </a:defRPr>
            </a:lvl7pPr>
            <a:lvl8pPr algn="ctr">
              <a:buNone/>
              <a:defRPr>
                <a:latin typeface="Arial"/>
                <a:ea typeface="Arial"/>
                <a:cs typeface="Arial"/>
              </a:defRPr>
            </a:lvl8pPr>
            <a:lvl9pPr algn="ctr">
              <a:buNone/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ERCOT</a:t>
            </a:r>
          </a:p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10:00 CPT</a:t>
            </a:r>
          </a:p>
        </p:txBody>
      </p:sp>
      <p:sp>
        <p:nvSpPr>
          <p:cNvPr id="1165" name="cutoff-3">
            <a:extLst xmlns:a="http://schemas.openxmlformats.org/drawingml/2006/main">
              <a:ext uri="{FF2B5EF4-FFF2-40B4-BE49-F238E27FC236}">
                <a16:creationId xmlns:a16="http://schemas.microsoft.com/office/drawing/2014/main" id="{7ABABDE7-7AA2-4190-842F-2D6BD375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725" y="10610850"/>
            <a:ext cx="1524000" cy="6286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769AA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>
                <a:latin typeface="Arial"/>
                <a:ea typeface="Arial"/>
                <a:cs typeface="Arial"/>
              </a:defRPr>
            </a:defPPr>
            <a:lvl1pPr algn="ctr">
              <a:buNone/>
              <a:defRPr>
                <a:latin typeface="Arial"/>
                <a:ea typeface="Arial"/>
                <a:cs typeface="Arial"/>
              </a:defRPr>
            </a:lvl1pPr>
            <a:lvl2pPr algn="ctr">
              <a:buNone/>
              <a:defRPr>
                <a:latin typeface="Arial"/>
                <a:ea typeface="Arial"/>
                <a:cs typeface="Arial"/>
              </a:defRPr>
            </a:lvl2pPr>
            <a:lvl3pPr algn="ctr">
              <a:buNone/>
              <a:defRPr>
                <a:latin typeface="Arial"/>
                <a:ea typeface="Arial"/>
                <a:cs typeface="Arial"/>
              </a:defRPr>
            </a:lvl3pPr>
            <a:lvl4pPr algn="ctr">
              <a:buNone/>
              <a:defRPr>
                <a:latin typeface="Arial"/>
                <a:ea typeface="Arial"/>
                <a:cs typeface="Arial"/>
              </a:defRPr>
            </a:lvl4pPr>
            <a:lvl5pPr algn="ctr">
              <a:buNone/>
              <a:defRPr>
                <a:latin typeface="Arial"/>
                <a:ea typeface="Arial"/>
                <a:cs typeface="Arial"/>
              </a:defRPr>
            </a:lvl5pPr>
            <a:lvl6pPr algn="ctr">
              <a:buNone/>
              <a:defRPr>
                <a:latin typeface="Arial"/>
                <a:ea typeface="Arial"/>
                <a:cs typeface="Arial"/>
              </a:defRPr>
            </a:lvl6pPr>
            <a:lvl7pPr algn="ctr">
              <a:buNone/>
              <a:defRPr>
                <a:latin typeface="Arial"/>
                <a:ea typeface="Arial"/>
                <a:cs typeface="Arial"/>
              </a:defRPr>
            </a:lvl7pPr>
            <a:lvl8pPr algn="ctr">
              <a:buNone/>
              <a:defRPr>
                <a:latin typeface="Arial"/>
                <a:ea typeface="Arial"/>
                <a:cs typeface="Arial"/>
              </a:defRPr>
            </a:lvl8pPr>
            <a:lvl9pPr algn="ctr">
              <a:buNone/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PJM</a:t>
            </a:r>
          </a:p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11:00 ET</a:t>
            </a:r>
          </a:p>
        </p:txBody>
      </p:sp>
      <p:sp>
        <p:nvSpPr>
          <p:cNvPr id="1166" name="information-boundary">
            <a:extLst xmlns:a="http://schemas.openxmlformats.org/drawingml/2006/main">
              <a:ext uri="{FF2B5EF4-FFF2-40B4-BE49-F238E27FC236}">
                <a16:creationId xmlns:a16="http://schemas.microsoft.com/office/drawing/2014/main" id="{F5F879AC-AC34-49A8-84B8-E69B5975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25" y="1055370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4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4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4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4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4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4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4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4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4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168 h visible history + future calendar only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No future realised signals · no market or node ID</a:t>
            </a:r>
          </a:p>
        </p:txBody>
      </p:sp>
      <p:sp>
        <p:nvSpPr>
          <p:cNvPr id="1167" name="evaluation-question">
            <a:extLst xmlns:a="http://schemas.openxmlformats.org/drawingml/2006/main">
              <a:ext uri="{FF2B5EF4-FFF2-40B4-BE49-F238E27FC236}">
                <a16:creationId xmlns:a16="http://schemas.microsoft.com/office/drawing/2014/main" id="{E94C0FD6-CD6A-4D4A-81D7-D5BFDA5C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2096750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039"/>
          </a:bodyPr>
          <a:lstStyle xmlns:a="http://schemas.openxmlformats.org/drawingml/2006/main">
            <a:defPPr algn="ctr">
              <a:defRPr sz="12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2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2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2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2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2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2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2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2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2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When can evidence move?</a:t>
            </a:r>
          </a:p>
        </p:txBody>
      </p:sp>
      <p:sp>
        <p:nvSpPr>
          <p:cNvPr id="1168" name="eval-step-0">
            <a:extLst xmlns:a="http://schemas.openxmlformats.org/drawingml/2006/main">
              <a:ext uri="{FF2B5EF4-FFF2-40B4-BE49-F238E27FC236}">
                <a16:creationId xmlns:a16="http://schemas.microsoft.com/office/drawing/2014/main" id="{69D62D9A-409C-45BB-8856-37182A6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1877675"/>
            <a:ext cx="1666875" cy="6858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FF1D5"/>
          </a:solidFill>
          <a:ln xmlns:a="http://schemas.openxmlformats.org/drawingml/2006/main" w="11430">
            <a:solidFill>
              <a:srgbClr val="DB981B"/>
            </a:solidFill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>
            <a:defPPr algn="ctr">
              <a:defRPr>
                <a:latin typeface="Arial"/>
                <a:ea typeface="Arial"/>
                <a:cs typeface="Arial"/>
              </a:defRPr>
            </a:defPPr>
            <a:lvl1pPr algn="ctr">
              <a:buNone/>
              <a:defRPr>
                <a:latin typeface="Arial"/>
                <a:ea typeface="Arial"/>
                <a:cs typeface="Arial"/>
              </a:defRPr>
            </a:lvl1pPr>
            <a:lvl2pPr algn="ctr">
              <a:buNone/>
              <a:defRPr>
                <a:latin typeface="Arial"/>
                <a:ea typeface="Arial"/>
                <a:cs typeface="Arial"/>
              </a:defRPr>
            </a:lvl2pPr>
            <a:lvl3pPr algn="ctr">
              <a:buNone/>
              <a:defRPr>
                <a:latin typeface="Arial"/>
                <a:ea typeface="Arial"/>
                <a:cs typeface="Arial"/>
              </a:defRPr>
            </a:lvl3pPr>
            <a:lvl4pPr algn="ctr">
              <a:buNone/>
              <a:defRPr>
                <a:latin typeface="Arial"/>
                <a:ea typeface="Arial"/>
                <a:cs typeface="Arial"/>
              </a:defRPr>
            </a:lvl4pPr>
            <a:lvl5pPr algn="ctr">
              <a:buNone/>
              <a:defRPr>
                <a:latin typeface="Arial"/>
                <a:ea typeface="Arial"/>
                <a:cs typeface="Arial"/>
              </a:defRPr>
            </a:lvl5pPr>
            <a:lvl6pPr algn="ctr">
              <a:buNone/>
              <a:defRPr>
                <a:latin typeface="Arial"/>
                <a:ea typeface="Arial"/>
                <a:cs typeface="Arial"/>
              </a:defRPr>
            </a:lvl6pPr>
            <a:lvl7pPr algn="ctr">
              <a:buNone/>
              <a:defRPr>
                <a:latin typeface="Arial"/>
                <a:ea typeface="Arial"/>
                <a:cs typeface="Arial"/>
              </a:defRPr>
            </a:lvl7pPr>
            <a:lvl8pPr algn="ctr">
              <a:buNone/>
              <a:defRPr>
                <a:latin typeface="Arial"/>
                <a:ea typeface="Arial"/>
                <a:cs typeface="Arial"/>
              </a:defRPr>
            </a:lvl8pPr>
            <a:lvl9pPr algn="ctr">
              <a:buNone/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2020–22</a:t>
            </a:r>
          </a:p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B981B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1169" name="eval-step-1">
            <a:extLst xmlns:a="http://schemas.openxmlformats.org/drawingml/2006/main">
              <a:ext uri="{FF2B5EF4-FFF2-40B4-BE49-F238E27FC236}">
                <a16:creationId xmlns:a16="http://schemas.microsoft.com/office/drawing/2014/main" id="{3DB35534-0550-4A63-804D-26E3CCC6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11877675"/>
            <a:ext cx="1381125" cy="6858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8DFA9"/>
          </a:solidFill>
          <a:ln xmlns:a="http://schemas.openxmlformats.org/drawingml/2006/main" w="11430">
            <a:solidFill>
              <a:srgbClr val="DB981B"/>
            </a:solidFill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>
            <a:defPPr algn="ctr">
              <a:defRPr>
                <a:latin typeface="Arial"/>
                <a:ea typeface="Arial"/>
                <a:cs typeface="Arial"/>
              </a:defRPr>
            </a:defPPr>
            <a:lvl1pPr algn="ctr">
              <a:buNone/>
              <a:defRPr>
                <a:latin typeface="Arial"/>
                <a:ea typeface="Arial"/>
                <a:cs typeface="Arial"/>
              </a:defRPr>
            </a:lvl1pPr>
            <a:lvl2pPr algn="ctr">
              <a:buNone/>
              <a:defRPr>
                <a:latin typeface="Arial"/>
                <a:ea typeface="Arial"/>
                <a:cs typeface="Arial"/>
              </a:defRPr>
            </a:lvl2pPr>
            <a:lvl3pPr algn="ctr">
              <a:buNone/>
              <a:defRPr>
                <a:latin typeface="Arial"/>
                <a:ea typeface="Arial"/>
                <a:cs typeface="Arial"/>
              </a:defRPr>
            </a:lvl3pPr>
            <a:lvl4pPr algn="ctr">
              <a:buNone/>
              <a:defRPr>
                <a:latin typeface="Arial"/>
                <a:ea typeface="Arial"/>
                <a:cs typeface="Arial"/>
              </a:defRPr>
            </a:lvl4pPr>
            <a:lvl5pPr algn="ctr">
              <a:buNone/>
              <a:defRPr>
                <a:latin typeface="Arial"/>
                <a:ea typeface="Arial"/>
                <a:cs typeface="Arial"/>
              </a:defRPr>
            </a:lvl5pPr>
            <a:lvl6pPr algn="ctr">
              <a:buNone/>
              <a:defRPr>
                <a:latin typeface="Arial"/>
                <a:ea typeface="Arial"/>
                <a:cs typeface="Arial"/>
              </a:defRPr>
            </a:lvl6pPr>
            <a:lvl7pPr algn="ctr">
              <a:buNone/>
              <a:defRPr>
                <a:latin typeface="Arial"/>
                <a:ea typeface="Arial"/>
                <a:cs typeface="Arial"/>
              </a:defRPr>
            </a:lvl7pPr>
            <a:lvl8pPr algn="ctr">
              <a:buNone/>
              <a:defRPr>
                <a:latin typeface="Arial"/>
                <a:ea typeface="Arial"/>
                <a:cs typeface="Arial"/>
              </a:defRPr>
            </a:lvl8pPr>
            <a:lvl9pPr algn="ctr">
              <a:buNone/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2023</a:t>
            </a:r>
          </a:p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B981B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1170" name="eval-step-2">
            <a:extLst xmlns:a="http://schemas.openxmlformats.org/drawingml/2006/main">
              <a:ext uri="{FF2B5EF4-FFF2-40B4-BE49-F238E27FC236}">
                <a16:creationId xmlns:a16="http://schemas.microsoft.com/office/drawing/2014/main" id="{36772928-7C58-489D-88F5-B448CAB5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11877675"/>
            <a:ext cx="1381125" cy="6858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2C667"/>
          </a:solidFill>
          <a:ln xmlns:a="http://schemas.openxmlformats.org/drawingml/2006/main" w="11430">
            <a:solidFill>
              <a:srgbClr val="DB981B"/>
            </a:solidFill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>
            <a:defPPr algn="ctr">
              <a:defRPr>
                <a:latin typeface="Arial"/>
                <a:ea typeface="Arial"/>
                <a:cs typeface="Arial"/>
              </a:defRPr>
            </a:defPPr>
            <a:lvl1pPr algn="ctr">
              <a:buNone/>
              <a:defRPr>
                <a:latin typeface="Arial"/>
                <a:ea typeface="Arial"/>
                <a:cs typeface="Arial"/>
              </a:defRPr>
            </a:lvl1pPr>
            <a:lvl2pPr algn="ctr">
              <a:buNone/>
              <a:defRPr>
                <a:latin typeface="Arial"/>
                <a:ea typeface="Arial"/>
                <a:cs typeface="Arial"/>
              </a:defRPr>
            </a:lvl2pPr>
            <a:lvl3pPr algn="ctr">
              <a:buNone/>
              <a:defRPr>
                <a:latin typeface="Arial"/>
                <a:ea typeface="Arial"/>
                <a:cs typeface="Arial"/>
              </a:defRPr>
            </a:lvl3pPr>
            <a:lvl4pPr algn="ctr">
              <a:buNone/>
              <a:defRPr>
                <a:latin typeface="Arial"/>
                <a:ea typeface="Arial"/>
                <a:cs typeface="Arial"/>
              </a:defRPr>
            </a:lvl4pPr>
            <a:lvl5pPr algn="ctr">
              <a:buNone/>
              <a:defRPr>
                <a:latin typeface="Arial"/>
                <a:ea typeface="Arial"/>
                <a:cs typeface="Arial"/>
              </a:defRPr>
            </a:lvl5pPr>
            <a:lvl6pPr algn="ctr">
              <a:buNone/>
              <a:defRPr>
                <a:latin typeface="Arial"/>
                <a:ea typeface="Arial"/>
                <a:cs typeface="Arial"/>
              </a:defRPr>
            </a:lvl6pPr>
            <a:lvl7pPr algn="ctr">
              <a:buNone/>
              <a:defRPr>
                <a:latin typeface="Arial"/>
                <a:ea typeface="Arial"/>
                <a:cs typeface="Arial"/>
              </a:defRPr>
            </a:lvl7pPr>
            <a:lvl8pPr algn="ctr">
              <a:buNone/>
              <a:defRPr>
                <a:latin typeface="Arial"/>
                <a:ea typeface="Arial"/>
                <a:cs typeface="Arial"/>
              </a:defRPr>
            </a:lvl8pPr>
            <a:lvl9pPr algn="ctr">
              <a:buNone/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2024</a:t>
            </a:r>
          </a:p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B981B"/>
                </a:solidFill>
                <a:latin typeface="Arial"/>
                <a:ea typeface="Arial"/>
                <a:cs typeface="Arial"/>
              </a:rPr>
              <a:t>FREEZE</a:t>
            </a:r>
          </a:p>
        </p:txBody>
      </p:sp>
      <p:sp>
        <p:nvSpPr>
          <p:cNvPr id="1171" name="eval-step-3">
            <a:extLst xmlns:a="http://schemas.openxmlformats.org/drawingml/2006/main">
              <a:ext uri="{FF2B5EF4-FFF2-40B4-BE49-F238E27FC236}">
                <a16:creationId xmlns:a16="http://schemas.microsoft.com/office/drawing/2014/main" id="{E0D83F90-E2AB-4F99-AB35-46BE65C9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11877675"/>
            <a:ext cx="1714500" cy="6858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DDF0EC"/>
          </a:solidFill>
          <a:ln xmlns:a="http://schemas.openxmlformats.org/drawingml/2006/main" w="11430">
            <a:solidFill>
              <a:srgbClr val="DB981B"/>
            </a:solidFill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>
            <a:defPPr algn="ctr">
              <a:defRPr>
                <a:latin typeface="Arial"/>
                <a:ea typeface="Arial"/>
                <a:cs typeface="Arial"/>
              </a:defRPr>
            </a:defPPr>
            <a:lvl1pPr algn="ctr">
              <a:buNone/>
              <a:defRPr>
                <a:latin typeface="Arial"/>
                <a:ea typeface="Arial"/>
                <a:cs typeface="Arial"/>
              </a:defRPr>
            </a:lvl1pPr>
            <a:lvl2pPr algn="ctr">
              <a:buNone/>
              <a:defRPr>
                <a:latin typeface="Arial"/>
                <a:ea typeface="Arial"/>
                <a:cs typeface="Arial"/>
              </a:defRPr>
            </a:lvl2pPr>
            <a:lvl3pPr algn="ctr">
              <a:buNone/>
              <a:defRPr>
                <a:latin typeface="Arial"/>
                <a:ea typeface="Arial"/>
                <a:cs typeface="Arial"/>
              </a:defRPr>
            </a:lvl3pPr>
            <a:lvl4pPr algn="ctr">
              <a:buNone/>
              <a:defRPr>
                <a:latin typeface="Arial"/>
                <a:ea typeface="Arial"/>
                <a:cs typeface="Arial"/>
              </a:defRPr>
            </a:lvl4pPr>
            <a:lvl5pPr algn="ctr">
              <a:buNone/>
              <a:defRPr>
                <a:latin typeface="Arial"/>
                <a:ea typeface="Arial"/>
                <a:cs typeface="Arial"/>
              </a:defRPr>
            </a:lvl5pPr>
            <a:lvl6pPr algn="ctr">
              <a:buNone/>
              <a:defRPr>
                <a:latin typeface="Arial"/>
                <a:ea typeface="Arial"/>
                <a:cs typeface="Arial"/>
              </a:defRPr>
            </a:lvl6pPr>
            <a:lvl7pPr algn="ctr">
              <a:buNone/>
              <a:defRPr>
                <a:latin typeface="Arial"/>
                <a:ea typeface="Arial"/>
                <a:cs typeface="Arial"/>
              </a:defRPr>
            </a:lvl7pPr>
            <a:lvl8pPr algn="ctr">
              <a:buNone/>
              <a:defRPr>
                <a:latin typeface="Arial"/>
                <a:ea typeface="Arial"/>
                <a:cs typeface="Arial"/>
              </a:defRPr>
            </a:lvl8pPr>
            <a:lvl9pPr algn="ctr">
              <a:buNone/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2020–24</a:t>
            </a:r>
          </a:p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B981B"/>
                </a:solidFill>
                <a:latin typeface="Arial"/>
                <a:ea typeface="Arial"/>
                <a:cs typeface="Arial"/>
              </a:rPr>
              <a:t>REFIT</a:t>
            </a:r>
          </a:p>
        </p:txBody>
      </p:sp>
      <p:sp>
        <p:nvSpPr>
          <p:cNvPr id="1172" name="eval-step-4">
            <a:extLst xmlns:a="http://schemas.openxmlformats.org/drawingml/2006/main">
              <a:ext uri="{FF2B5EF4-FFF2-40B4-BE49-F238E27FC236}">
                <a16:creationId xmlns:a16="http://schemas.microsoft.com/office/drawing/2014/main" id="{86ADA77A-806B-4AC8-A692-235B8FA8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0975" y="11877675"/>
            <a:ext cx="1524000" cy="6858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138477"/>
          </a:solidFill>
          <a:ln xmlns:a="http://schemas.openxmlformats.org/drawingml/2006/main" w="11430">
            <a:solidFill>
              <a:srgbClr val="138477"/>
            </a:solidFill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>
            <a:defPPr algn="ctr">
              <a:defRPr>
                <a:latin typeface="Arial"/>
                <a:ea typeface="Arial"/>
                <a:cs typeface="Arial"/>
              </a:defRPr>
            </a:defPPr>
            <a:lvl1pPr algn="ctr">
              <a:buNone/>
              <a:defRPr>
                <a:latin typeface="Arial"/>
                <a:ea typeface="Arial"/>
                <a:cs typeface="Arial"/>
              </a:defRPr>
            </a:lvl1pPr>
            <a:lvl2pPr algn="ctr">
              <a:buNone/>
              <a:defRPr>
                <a:latin typeface="Arial"/>
                <a:ea typeface="Arial"/>
                <a:cs typeface="Arial"/>
              </a:defRPr>
            </a:lvl2pPr>
            <a:lvl3pPr algn="ctr">
              <a:buNone/>
              <a:defRPr>
                <a:latin typeface="Arial"/>
                <a:ea typeface="Arial"/>
                <a:cs typeface="Arial"/>
              </a:defRPr>
            </a:lvl3pPr>
            <a:lvl4pPr algn="ctr">
              <a:buNone/>
              <a:defRPr>
                <a:latin typeface="Arial"/>
                <a:ea typeface="Arial"/>
                <a:cs typeface="Arial"/>
              </a:defRPr>
            </a:lvl4pPr>
            <a:lvl5pPr algn="ctr">
              <a:buNone/>
              <a:defRPr>
                <a:latin typeface="Arial"/>
                <a:ea typeface="Arial"/>
                <a:cs typeface="Arial"/>
              </a:defRPr>
            </a:lvl5pPr>
            <a:lvl6pPr algn="ctr">
              <a:buNone/>
              <a:defRPr>
                <a:latin typeface="Arial"/>
                <a:ea typeface="Arial"/>
                <a:cs typeface="Arial"/>
              </a:defRPr>
            </a:lvl6pPr>
            <a:lvl7pPr algn="ctr">
              <a:buNone/>
              <a:defRPr>
                <a:latin typeface="Arial"/>
                <a:ea typeface="Arial"/>
                <a:cs typeface="Arial"/>
              </a:defRPr>
            </a:lvl7pPr>
            <a:lvl8pPr algn="ctr">
              <a:buNone/>
              <a:defRPr>
                <a:latin typeface="Arial"/>
                <a:ea typeface="Arial"/>
                <a:cs typeface="Arial"/>
              </a:defRPr>
            </a:lvl8pPr>
            <a:lvl9pPr algn="ctr">
              <a:buNone/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2025</a:t>
            </a:r>
          </a:p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TEST</a:t>
            </a:r>
          </a:p>
        </p:txBody>
      </p:sp>
      <p:sp>
        <p:nvSpPr>
          <p:cNvPr id="1173" name="evaluation-boundary">
            <a:extLst xmlns:a="http://schemas.openxmlformats.org/drawingml/2006/main">
              <a:ext uri="{FF2B5EF4-FFF2-40B4-BE49-F238E27FC236}">
                <a16:creationId xmlns:a16="http://schemas.microsoft.com/office/drawing/2014/main" id="{D6146800-811D-4537-BFB3-95BC7746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0" y="1184910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Market-balanced then node-balanced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Three seeds averaged before the locked test</a:t>
            </a:r>
          </a:p>
        </p:txBody>
      </p:sp>
      <p:sp>
        <p:nvSpPr>
          <p:cNvPr id="1174" name="battery-question">
            <a:extLst xmlns:a="http://schemas.openxmlformats.org/drawingml/2006/main">
              <a:ext uri="{FF2B5EF4-FFF2-40B4-BE49-F238E27FC236}">
                <a16:creationId xmlns:a16="http://schemas.microsoft.com/office/drawing/2014/main" id="{E4A93DB6-D977-4A02-9402-9B7A7B61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33350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2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2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2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2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2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2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2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2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2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What can the battery do?</a:t>
            </a:r>
          </a:p>
        </p:txBody>
      </p:sp>
      <p:sp>
        <p:nvSpPr>
          <p:cNvPr id="1175" name="battery-power">
            <a:extLst xmlns:a="http://schemas.openxmlformats.org/drawingml/2006/main">
              <a:ext uri="{FF2B5EF4-FFF2-40B4-BE49-F238E27FC236}">
                <a16:creationId xmlns:a16="http://schemas.microsoft.com/office/drawing/2014/main" id="{21B7E7F0-9A34-4056-A2C1-4DDB3593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317307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6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6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6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6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6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6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6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6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6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477"/>
                </a:solidFill>
                <a:latin typeface="Arial"/>
                <a:ea typeface="Arial"/>
                <a:cs typeface="Arial"/>
              </a:rPr>
              <a:t>1 MW</a:t>
            </a:r>
          </a:p>
        </p:txBody>
      </p:sp>
      <p:sp>
        <p:nvSpPr>
          <p:cNvPr id="1176" name="battery-efficiency">
            <a:extLst xmlns:a="http://schemas.openxmlformats.org/drawingml/2006/main">
              <a:ext uri="{FF2B5EF4-FFF2-40B4-BE49-F238E27FC236}">
                <a16:creationId xmlns:a16="http://schemas.microsoft.com/office/drawing/2014/main" id="{21459958-B5F3-431B-B4CD-BC4223AD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317307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6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6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6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6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6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6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6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6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6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477"/>
                </a:solidFill>
                <a:latin typeface="Arial"/>
                <a:ea typeface="Arial"/>
                <a:cs typeface="Arial"/>
              </a:rPr>
              <a:t>η 0.95</a:t>
            </a:r>
          </a:p>
        </p:txBody>
      </p:sp>
      <p:sp>
        <p:nvSpPr>
          <p:cNvPr id="1177" name="soc-shell">
            <a:extLst xmlns:a="http://schemas.openxmlformats.org/drawingml/2006/main">
              <a:ext uri="{FF2B5EF4-FFF2-40B4-BE49-F238E27FC236}">
                <a16:creationId xmlns:a16="http://schemas.microsoft.com/office/drawing/2014/main" id="{A1BFD315-CD85-4BE4-ACBA-07723141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3525500"/>
            <a:ext cx="5095875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F959F"/>
            </a:solidFill>
            <a:prstDash val="solid"/>
          </a:ln>
        </p:spPr>
      </p:sp>
      <p:sp>
        <p:nvSpPr>
          <p:cNvPr id="1178" name="soc-fill">
            <a:extLst xmlns:a="http://schemas.openxmlformats.org/drawingml/2006/main">
              <a:ext uri="{FF2B5EF4-FFF2-40B4-BE49-F238E27FC236}">
                <a16:creationId xmlns:a16="http://schemas.microsoft.com/office/drawing/2014/main" id="{B7E2AD5C-3274-4872-9C38-96482533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601700"/>
            <a:ext cx="4048125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3C5B1"/>
          </a:solidFill>
          <a:ln xmlns:a="http://schemas.openxmlformats.org/drawingml/2006/main" w="0">
            <a:solidFill>
              <a:srgbClr val="73C5B1"/>
            </a:solidFill>
            <a:prstDash val="solid"/>
          </a:ln>
        </p:spPr>
      </p:sp>
      <p:sp>
        <p:nvSpPr>
          <p:cNvPr id="1179" name="soc-min">
            <a:extLst xmlns:a="http://schemas.openxmlformats.org/drawingml/2006/main">
              <a:ext uri="{FF2B5EF4-FFF2-40B4-BE49-F238E27FC236}">
                <a16:creationId xmlns:a16="http://schemas.microsoft.com/office/drawing/2014/main" id="{273975F7-ECFC-4E07-B080-7F4E31A0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39065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8477"/>
                </a:solidFill>
                <a:latin typeface="Arial"/>
                <a:ea typeface="Arial"/>
                <a:cs typeface="Arial"/>
              </a:rPr>
              <a:t>0.4 MWh</a:t>
            </a:r>
          </a:p>
        </p:txBody>
      </p:sp>
      <p:sp>
        <p:nvSpPr>
          <p:cNvPr id="1180" name="soc-label">
            <a:extLst xmlns:a="http://schemas.openxmlformats.org/drawingml/2006/main">
              <a:ext uri="{FF2B5EF4-FFF2-40B4-BE49-F238E27FC236}">
                <a16:creationId xmlns:a16="http://schemas.microsoft.com/office/drawing/2014/main" id="{5996D28B-F108-4B3A-B4FC-F0FD6C99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39065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2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2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2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2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2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2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2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2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2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continuous SOC operating band</a:t>
            </a:r>
          </a:p>
        </p:txBody>
      </p:sp>
      <p:sp>
        <p:nvSpPr>
          <p:cNvPr id="1181" name="soc-max">
            <a:extLst xmlns:a="http://schemas.openxmlformats.org/drawingml/2006/main">
              <a:ext uri="{FF2B5EF4-FFF2-40B4-BE49-F238E27FC236}">
                <a16:creationId xmlns:a16="http://schemas.microsoft.com/office/drawing/2014/main" id="{81E47D5D-664D-4334-B7B6-A2058E42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139065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8477"/>
                </a:solidFill>
                <a:latin typeface="Arial"/>
                <a:ea typeface="Arial"/>
                <a:cs typeface="Arial"/>
              </a:rPr>
              <a:t>3.6 MWh</a:t>
            </a:r>
          </a:p>
        </p:txBody>
      </p:sp>
      <p:sp>
        <p:nvSpPr>
          <p:cNvPr id="1182" name="battery-boundary">
            <a:extLst xmlns:a="http://schemas.openxmlformats.org/drawingml/2006/main">
              <a:ext uri="{FF2B5EF4-FFF2-40B4-BE49-F238E27FC236}">
                <a16:creationId xmlns:a16="http://schemas.microsoft.com/office/drawing/2014/main" id="{08C95D2B-B7B1-4945-A57F-BA8DDA77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13125450"/>
            <a:ext cx="552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4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4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4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4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4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4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4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4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4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No simultaneous charge and discharge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3% deviation band · degradation κ = 5.7 USD/MWh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Actions fixed before actual DA and RT settlement</a:t>
            </a:r>
          </a:p>
        </p:txBody>
      </p:sp>
      <p:sp>
        <p:nvSpPr>
          <p:cNvPr id="1183" name="overview-stat-0">
            <a:extLst xmlns:a="http://schemas.openxmlformats.org/drawingml/2006/main">
              <a:ext uri="{FF2B5EF4-FFF2-40B4-BE49-F238E27FC236}">
                <a16:creationId xmlns:a16="http://schemas.microsoft.com/office/drawing/2014/main" id="{19617AB4-144D-44CD-AD21-E5CC9832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525500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0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30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84" name="overview-stat-label-0">
            <a:extLst xmlns:a="http://schemas.openxmlformats.org/drawingml/2006/main">
              <a:ext uri="{FF2B5EF4-FFF2-40B4-BE49-F238E27FC236}">
                <a16:creationId xmlns:a16="http://schemas.microsoft.com/office/drawing/2014/main" id="{F6491E13-2A46-45FB-9F80-8BC411A0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3544550"/>
            <a:ext cx="83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US markets</a:t>
            </a:r>
          </a:p>
        </p:txBody>
      </p:sp>
      <p:sp>
        <p:nvSpPr>
          <p:cNvPr id="1185" name="overview-stat-1">
            <a:extLst xmlns:a="http://schemas.openxmlformats.org/drawingml/2006/main">
              <a:ext uri="{FF2B5EF4-FFF2-40B4-BE49-F238E27FC236}">
                <a16:creationId xmlns:a16="http://schemas.microsoft.com/office/drawing/2014/main" id="{74B9A944-23C9-4B05-A676-7B95260D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3525500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07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7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7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7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7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7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7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7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7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7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3075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38477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  <p:sp>
        <p:nvSpPr>
          <p:cNvPr id="1186" name="overview-stat-label-1">
            <a:extLst xmlns:a="http://schemas.openxmlformats.org/drawingml/2006/main">
              <a:ext uri="{FF2B5EF4-FFF2-40B4-BE49-F238E27FC236}">
                <a16:creationId xmlns:a16="http://schemas.microsoft.com/office/drawing/2014/main" id="{89D0D90B-F8FA-40BD-A954-6A1A417F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3544550"/>
            <a:ext cx="83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nodes</a:t>
            </a:r>
          </a:p>
        </p:txBody>
      </p:sp>
      <p:sp>
        <p:nvSpPr>
          <p:cNvPr id="1187" name="overview-stat-2">
            <a:extLst xmlns:a="http://schemas.openxmlformats.org/drawingml/2006/main">
              <a:ext uri="{FF2B5EF4-FFF2-40B4-BE49-F238E27FC236}">
                <a16:creationId xmlns:a16="http://schemas.microsoft.com/office/drawing/2014/main" id="{1E03CA2B-EF90-4436-B149-0E625F37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525500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075" b="1">
                <a:solidFill>
                  <a:srgbClr val="DB981B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75" b="1">
                <a:solidFill>
                  <a:srgbClr val="DB981B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75" b="1">
                <a:solidFill>
                  <a:srgbClr val="DB981B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75" b="1">
                <a:solidFill>
                  <a:srgbClr val="DB981B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75" b="1">
                <a:solidFill>
                  <a:srgbClr val="DB981B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75" b="1">
                <a:solidFill>
                  <a:srgbClr val="DB981B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75" b="1">
                <a:solidFill>
                  <a:srgbClr val="DB981B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75" b="1">
                <a:solidFill>
                  <a:srgbClr val="DB981B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75" b="1">
                <a:solidFill>
                  <a:srgbClr val="DB981B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75" b="1">
                <a:solidFill>
                  <a:srgbClr val="DB98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3075" b="1">
                <a:solidFill>
                  <a:srgbClr val="DB981B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DB981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88" name="overview-stat-label-2">
            <a:extLst xmlns:a="http://schemas.openxmlformats.org/drawingml/2006/main">
              <a:ext uri="{FF2B5EF4-FFF2-40B4-BE49-F238E27FC236}">
                <a16:creationId xmlns:a16="http://schemas.microsoft.com/office/drawing/2014/main" id="{90BC5ED4-1D74-40AD-9DA8-D8F6D468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3544550"/>
            <a:ext cx="83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forecast tasks</a:t>
            </a:r>
          </a:p>
        </p:txBody>
      </p:sp>
      <p:sp>
        <p:nvSpPr>
          <p:cNvPr id="1189" name="overview-stat-3">
            <a:extLst xmlns:a="http://schemas.openxmlformats.org/drawingml/2006/main">
              <a:ext uri="{FF2B5EF4-FFF2-40B4-BE49-F238E27FC236}">
                <a16:creationId xmlns:a16="http://schemas.microsoft.com/office/drawing/2014/main" id="{6783E0AF-7A84-4AAA-B691-255F7CE8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525500"/>
            <a:ext cx="61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075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75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75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75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75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75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75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75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75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75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3075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745A9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90" name="overview-stat-label-3">
            <a:extLst xmlns:a="http://schemas.openxmlformats.org/drawingml/2006/main">
              <a:ext uri="{FF2B5EF4-FFF2-40B4-BE49-F238E27FC236}">
                <a16:creationId xmlns:a16="http://schemas.microsoft.com/office/drawing/2014/main" id="{497E3B73-8DB1-4EEF-89A6-6967B859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3544550"/>
            <a:ext cx="83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locked 2025 test</a:t>
            </a:r>
          </a:p>
        </p:txBody>
      </p:sp>
      <p:sp>
        <p:nvSpPr>
          <p:cNvPr id="1191" name="background-bottom-rule">
            <a:extLst xmlns:a="http://schemas.openxmlformats.org/drawingml/2006/main">
              <a:ext uri="{FF2B5EF4-FFF2-40B4-BE49-F238E27FC236}">
                <a16:creationId xmlns:a16="http://schemas.microsoft.com/office/drawing/2014/main" id="{B89A9D0B-177F-4425-9CEC-A95E230D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430375"/>
            <a:ext cx="2034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7684"/>
            </a:solidFill>
            <a:prstDash val="solid"/>
          </a:ln>
        </p:spPr>
      </p:sp>
      <p:sp>
        <p:nvSpPr>
          <p:cNvPr id="1192" name="method-findings-title">
            <a:extLst xmlns:a="http://schemas.openxmlformats.org/drawingml/2006/main">
              <a:ext uri="{FF2B5EF4-FFF2-40B4-BE49-F238E27FC236}">
                <a16:creationId xmlns:a16="http://schemas.microsoft.com/office/drawing/2014/main" id="{0B6634DF-CD5C-4DA9-A679-CB3D58E7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620875"/>
            <a:ext cx="2034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Method and findings</a:t>
            </a:r>
          </a:p>
        </p:txBody>
      </p:sp>
      <p:sp>
        <p:nvSpPr>
          <p:cNvPr id="1193" name="method-findings-rule">
            <a:extLst xmlns:a="http://schemas.openxmlformats.org/drawingml/2006/main">
              <a:ext uri="{FF2B5EF4-FFF2-40B4-BE49-F238E27FC236}">
                <a16:creationId xmlns:a16="http://schemas.microsoft.com/office/drawing/2014/main" id="{46A157F0-988C-46D8-BF43-C7670CB8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125700"/>
            <a:ext cx="2034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2A43"/>
            </a:solidFill>
            <a:prstDash val="solid"/>
          </a:ln>
        </p:spPr>
      </p:sp>
      <p:sp>
        <p:nvSpPr>
          <p:cNvPr id="1194" name="method-subheading">
            <a:extLst xmlns:a="http://schemas.openxmlformats.org/drawingml/2006/main">
              <a:ext uri="{FF2B5EF4-FFF2-40B4-BE49-F238E27FC236}">
                <a16:creationId xmlns:a16="http://schemas.microsoft.com/office/drawing/2014/main" id="{E42AB21F-8CDF-4BE9-88F2-4E522098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0"/>
            <a:ext cx="1133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2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8477"/>
                </a:solidFill>
                <a:latin typeface="Arial"/>
                <a:ea typeface="Arial"/>
                <a:cs typeface="Arial"/>
              </a:rPr>
              <a:t>Detailed Stage 3: no-ID forecasting-to-control architecture</a:t>
            </a:r>
          </a:p>
        </p:txBody>
      </p:sp>
      <p:sp>
        <p:nvSpPr>
          <p:cNvPr id="1195" name="method-caption">
            <a:extLst xmlns:a="http://schemas.openxmlformats.org/drawingml/2006/main">
              <a:ext uri="{FF2B5EF4-FFF2-40B4-BE49-F238E27FC236}">
                <a16:creationId xmlns:a16="http://schemas.microsoft.com/office/drawing/2014/main" id="{9E2076C3-7EBF-4802-A210-AADE5EEC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68625"/>
            <a:ext cx="1133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650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650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650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650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650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650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650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650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650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50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51A1E"/>
                </a:solidFill>
                <a:latin typeface="Arial"/>
                <a:ea typeface="Arial"/>
                <a:cs typeface="Arial"/>
              </a:rPr>
              <a:t>Each task keeps its own weights, loss and checkpoint while sharing one architecture and the same information boundary.</a:t>
            </a:r>
          </a:p>
        </p:txBody>
      </p:sp>
      <p:sp>
        <p:nvSpPr>
          <p:cNvPr id="1196" name="method-input-0">
            <a:extLst xmlns:a="http://schemas.openxmlformats.org/drawingml/2006/main">
              <a:ext uri="{FF2B5EF4-FFF2-40B4-BE49-F238E27FC236}">
                <a16:creationId xmlns:a16="http://schemas.microsoft.com/office/drawing/2014/main" id="{AE875849-ADAE-486E-890D-046850D1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6116300"/>
            <a:ext cx="204787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1798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DA price</a:t>
            </a:r>
          </a:p>
        </p:txBody>
      </p:sp>
      <p:sp>
        <p:nvSpPr>
          <p:cNvPr id="1197" name="method-input-1">
            <a:extLst xmlns:a="http://schemas.openxmlformats.org/drawingml/2006/main">
              <a:ext uri="{FF2B5EF4-FFF2-40B4-BE49-F238E27FC236}">
                <a16:creationId xmlns:a16="http://schemas.microsoft.com/office/drawing/2014/main" id="{B0C3C6CB-A840-4DC4-89D9-E2DDBA6A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116300"/>
            <a:ext cx="204787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1798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RT price</a:t>
            </a:r>
          </a:p>
        </p:txBody>
      </p:sp>
      <p:sp>
        <p:nvSpPr>
          <p:cNvPr id="1198" name="method-input-2">
            <a:extLst xmlns:a="http://schemas.openxmlformats.org/drawingml/2006/main">
              <a:ext uri="{FF2B5EF4-FFF2-40B4-BE49-F238E27FC236}">
                <a16:creationId xmlns:a16="http://schemas.microsoft.com/office/drawing/2014/main" id="{FAAE3B40-207D-4772-BBA8-F6BB4141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6116300"/>
            <a:ext cx="204787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1798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Load</a:t>
            </a:r>
          </a:p>
        </p:txBody>
      </p:sp>
      <p:sp>
        <p:nvSpPr>
          <p:cNvPr id="1199" name="method-input-3">
            <a:extLst xmlns:a="http://schemas.openxmlformats.org/drawingml/2006/main">
              <a:ext uri="{FF2B5EF4-FFF2-40B4-BE49-F238E27FC236}">
                <a16:creationId xmlns:a16="http://schemas.microsoft.com/office/drawing/2014/main" id="{01575BA6-84D8-448B-9195-6762E3E2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116300"/>
            <a:ext cx="204787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1798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Wind + solar</a:t>
            </a:r>
          </a:p>
        </p:txBody>
      </p:sp>
      <p:sp>
        <p:nvSpPr>
          <p:cNvPr id="1200" name="method-input-4">
            <a:extLst xmlns:a="http://schemas.openxmlformats.org/drawingml/2006/main">
              <a:ext uri="{FF2B5EF4-FFF2-40B4-BE49-F238E27FC236}">
                <a16:creationId xmlns:a16="http://schemas.microsoft.com/office/drawing/2014/main" id="{5DC5691C-4258-4299-8B04-28B68CB1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16116300"/>
            <a:ext cx="204787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1798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Calendar</a:t>
            </a:r>
          </a:p>
        </p:txBody>
      </p:sp>
      <p:sp>
        <p:nvSpPr>
          <p:cNvPr id="1201" name="method-blueprint">
            <a:extLst xmlns:a="http://schemas.openxmlformats.org/drawingml/2006/main">
              <a:ext uri="{FF2B5EF4-FFF2-40B4-BE49-F238E27FC236}">
                <a16:creationId xmlns:a16="http://schemas.microsoft.com/office/drawing/2014/main" id="{3DDE08F4-8078-4D1E-BEF6-C03AED76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049750"/>
            <a:ext cx="113347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6193">
            <a:solidFill>
              <a:srgbClr val="5B94B8"/>
            </a:solidFill>
            <a:prstDash val="solid"/>
          </a:ln>
        </p:spPr>
      </p:sp>
      <p:sp>
        <p:nvSpPr>
          <p:cNvPr id="1202" name="method-blueprint-title">
            <a:extLst xmlns:a="http://schemas.openxmlformats.org/drawingml/2006/main">
              <a:ext uri="{FF2B5EF4-FFF2-40B4-BE49-F238E27FC236}">
                <a16:creationId xmlns:a16="http://schemas.microsoft.com/office/drawing/2014/main" id="{A1596BE9-E896-4EAE-8FD8-83F42840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2116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SHARED TRANSFORMER BLUEPRINT</a:t>
            </a:r>
          </a:p>
        </p:txBody>
      </p:sp>
      <p:sp>
        <p:nvSpPr>
          <p:cNvPr id="1203" name="method-block-0">
            <a:extLst xmlns:a="http://schemas.openxmlformats.org/drawingml/2006/main">
              <a:ext uri="{FF2B5EF4-FFF2-40B4-BE49-F238E27FC236}">
                <a16:creationId xmlns:a16="http://schemas.microsoft.com/office/drawing/2014/main" id="{D24BDF02-105E-4BC9-83D2-B5679A26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621250"/>
            <a:ext cx="1952625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59DB6"/>
            </a:solidFill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>
            <a:defPPr algn="ctr">
              <a:defRPr>
                <a:latin typeface="Arial"/>
                <a:ea typeface="Arial"/>
                <a:cs typeface="Arial"/>
              </a:defRPr>
            </a:defPPr>
            <a:lvl1pPr algn="ctr">
              <a:buNone/>
              <a:defRPr>
                <a:latin typeface="Arial"/>
                <a:ea typeface="Arial"/>
                <a:cs typeface="Arial"/>
              </a:defRPr>
            </a:lvl1pPr>
            <a:lvl2pPr algn="ctr">
              <a:buNone/>
              <a:defRPr>
                <a:latin typeface="Arial"/>
                <a:ea typeface="Arial"/>
                <a:cs typeface="Arial"/>
              </a:defRPr>
            </a:lvl2pPr>
            <a:lvl3pPr algn="ctr">
              <a:buNone/>
              <a:defRPr>
                <a:latin typeface="Arial"/>
                <a:ea typeface="Arial"/>
                <a:cs typeface="Arial"/>
              </a:defRPr>
            </a:lvl3pPr>
            <a:lvl4pPr algn="ctr">
              <a:buNone/>
              <a:defRPr>
                <a:latin typeface="Arial"/>
                <a:ea typeface="Arial"/>
                <a:cs typeface="Arial"/>
              </a:defRPr>
            </a:lvl4pPr>
            <a:lvl5pPr algn="ctr">
              <a:buNone/>
              <a:defRPr>
                <a:latin typeface="Arial"/>
                <a:ea typeface="Arial"/>
                <a:cs typeface="Arial"/>
              </a:defRPr>
            </a:lvl5pPr>
            <a:lvl6pPr algn="ctr">
              <a:buNone/>
              <a:defRPr>
                <a:latin typeface="Arial"/>
                <a:ea typeface="Arial"/>
                <a:cs typeface="Arial"/>
              </a:defRPr>
            </a:lvl6pPr>
            <a:lvl7pPr algn="ctr">
              <a:buNone/>
              <a:defRPr>
                <a:latin typeface="Arial"/>
                <a:ea typeface="Arial"/>
                <a:cs typeface="Arial"/>
              </a:defRPr>
            </a:lvl7pPr>
            <a:lvl8pPr algn="ctr">
              <a:buNone/>
              <a:defRPr>
                <a:latin typeface="Arial"/>
                <a:ea typeface="Arial"/>
                <a:cs typeface="Arial"/>
              </a:defRPr>
            </a:lvl8pPr>
            <a:lvl9pPr algn="ctr">
              <a:buNone/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Context-robust</a:t>
            </a:r>
          </a:p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151A1E"/>
                </a:solidFill>
                <a:latin typeface="Arial"/>
                <a:ea typeface="Arial"/>
                <a:cs typeface="Arial"/>
              </a:rPr>
              <a:t>normalisation</a:t>
            </a:r>
          </a:p>
        </p:txBody>
      </p:sp>
      <p:sp>
        <p:nvSpPr>
          <p:cNvPr id="1204" name="method-block-1">
            <a:extLst xmlns:a="http://schemas.openxmlformats.org/drawingml/2006/main">
              <a:ext uri="{FF2B5EF4-FFF2-40B4-BE49-F238E27FC236}">
                <a16:creationId xmlns:a16="http://schemas.microsoft.com/office/drawing/2014/main" id="{99F4F3B7-FAA9-40A8-93CB-B41E9027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621250"/>
            <a:ext cx="1952625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59DB6"/>
            </a:solidFill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>
            <a:defPPr algn="ctr">
              <a:defRPr>
                <a:latin typeface="Arial"/>
                <a:ea typeface="Arial"/>
                <a:cs typeface="Arial"/>
              </a:defRPr>
            </a:defPPr>
            <a:lvl1pPr algn="ctr">
              <a:buNone/>
              <a:defRPr>
                <a:latin typeface="Arial"/>
                <a:ea typeface="Arial"/>
                <a:cs typeface="Arial"/>
              </a:defRPr>
            </a:lvl1pPr>
            <a:lvl2pPr algn="ctr">
              <a:buNone/>
              <a:defRPr>
                <a:latin typeface="Arial"/>
                <a:ea typeface="Arial"/>
                <a:cs typeface="Arial"/>
              </a:defRPr>
            </a:lvl2pPr>
            <a:lvl3pPr algn="ctr">
              <a:buNone/>
              <a:defRPr>
                <a:latin typeface="Arial"/>
                <a:ea typeface="Arial"/>
                <a:cs typeface="Arial"/>
              </a:defRPr>
            </a:lvl3pPr>
            <a:lvl4pPr algn="ctr">
              <a:buNone/>
              <a:defRPr>
                <a:latin typeface="Arial"/>
                <a:ea typeface="Arial"/>
                <a:cs typeface="Arial"/>
              </a:defRPr>
            </a:lvl4pPr>
            <a:lvl5pPr algn="ctr">
              <a:buNone/>
              <a:defRPr>
                <a:latin typeface="Arial"/>
                <a:ea typeface="Arial"/>
                <a:cs typeface="Arial"/>
              </a:defRPr>
            </a:lvl5pPr>
            <a:lvl6pPr algn="ctr">
              <a:buNone/>
              <a:defRPr>
                <a:latin typeface="Arial"/>
                <a:ea typeface="Arial"/>
                <a:cs typeface="Arial"/>
              </a:defRPr>
            </a:lvl6pPr>
            <a:lvl7pPr algn="ctr">
              <a:buNone/>
              <a:defRPr>
                <a:latin typeface="Arial"/>
                <a:ea typeface="Arial"/>
                <a:cs typeface="Arial"/>
              </a:defRPr>
            </a:lvl7pPr>
            <a:lvl8pPr algn="ctr">
              <a:buNone/>
              <a:defRPr>
                <a:latin typeface="Arial"/>
                <a:ea typeface="Arial"/>
                <a:cs typeface="Arial"/>
              </a:defRPr>
            </a:lvl8pPr>
            <a:lvl9pPr algn="ctr">
              <a:buNone/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Per-stream</a:t>
            </a:r>
          </a:p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151A1E"/>
                </a:solidFill>
                <a:latin typeface="Arial"/>
                <a:ea typeface="Arial"/>
                <a:cs typeface="Arial"/>
              </a:rPr>
              <a:t>2-layer encoders</a:t>
            </a:r>
          </a:p>
        </p:txBody>
      </p:sp>
      <p:sp>
        <p:nvSpPr>
          <p:cNvPr id="1206" name="method-block-2">
            <a:extLst xmlns:a="http://schemas.openxmlformats.org/drawingml/2006/main">
              <a:ext uri="{FF2B5EF4-FFF2-40B4-BE49-F238E27FC236}">
                <a16:creationId xmlns:a16="http://schemas.microsoft.com/office/drawing/2014/main" id="{70C4076D-844A-4D8D-B11B-248939AE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7621250"/>
            <a:ext cx="1952625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59DB6"/>
            </a:solidFill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>
            <a:defPPr algn="ctr">
              <a:defRPr>
                <a:latin typeface="Arial"/>
                <a:ea typeface="Arial"/>
                <a:cs typeface="Arial"/>
              </a:defRPr>
            </a:defPPr>
            <a:lvl1pPr algn="ctr">
              <a:buNone/>
              <a:defRPr>
                <a:latin typeface="Arial"/>
                <a:ea typeface="Arial"/>
                <a:cs typeface="Arial"/>
              </a:defRPr>
            </a:lvl1pPr>
            <a:lvl2pPr algn="ctr">
              <a:buNone/>
              <a:defRPr>
                <a:latin typeface="Arial"/>
                <a:ea typeface="Arial"/>
                <a:cs typeface="Arial"/>
              </a:defRPr>
            </a:lvl2pPr>
            <a:lvl3pPr algn="ctr">
              <a:buNone/>
              <a:defRPr>
                <a:latin typeface="Arial"/>
                <a:ea typeface="Arial"/>
                <a:cs typeface="Arial"/>
              </a:defRPr>
            </a:lvl3pPr>
            <a:lvl4pPr algn="ctr">
              <a:buNone/>
              <a:defRPr>
                <a:latin typeface="Arial"/>
                <a:ea typeface="Arial"/>
                <a:cs typeface="Arial"/>
              </a:defRPr>
            </a:lvl4pPr>
            <a:lvl5pPr algn="ctr">
              <a:buNone/>
              <a:defRPr>
                <a:latin typeface="Arial"/>
                <a:ea typeface="Arial"/>
                <a:cs typeface="Arial"/>
              </a:defRPr>
            </a:lvl5pPr>
            <a:lvl6pPr algn="ctr">
              <a:buNone/>
              <a:defRPr>
                <a:latin typeface="Arial"/>
                <a:ea typeface="Arial"/>
                <a:cs typeface="Arial"/>
              </a:defRPr>
            </a:lvl6pPr>
            <a:lvl7pPr algn="ctr">
              <a:buNone/>
              <a:defRPr>
                <a:latin typeface="Arial"/>
                <a:ea typeface="Arial"/>
                <a:cs typeface="Arial"/>
              </a:defRPr>
            </a:lvl7pPr>
            <a:lvl8pPr algn="ctr">
              <a:buNone/>
              <a:defRPr>
                <a:latin typeface="Arial"/>
                <a:ea typeface="Arial"/>
                <a:cs typeface="Arial"/>
              </a:defRPr>
            </a:lvl8pPr>
            <a:lvl9pPr algn="ctr">
              <a:buNone/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F0/F1 source</a:t>
            </a:r>
          </a:p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151A1E"/>
                </a:solidFill>
                <a:latin typeface="Arial"/>
                <a:ea typeface="Arial"/>
                <a:cs typeface="Arial"/>
              </a:rPr>
              <a:t>fusion</a:t>
            </a:r>
          </a:p>
        </p:txBody>
      </p:sp>
      <p:sp>
        <p:nvSpPr>
          <p:cNvPr id="1208" name="method-block-3">
            <a:extLst xmlns:a="http://schemas.openxmlformats.org/drawingml/2006/main">
              <a:ext uri="{FF2B5EF4-FFF2-40B4-BE49-F238E27FC236}">
                <a16:creationId xmlns:a16="http://schemas.microsoft.com/office/drawing/2014/main" id="{89FF7D68-24DD-4066-8332-DA23BEFF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621250"/>
            <a:ext cx="1952625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59DB6"/>
            </a:solidFill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>
            <a:defPPr algn="ctr">
              <a:defRPr>
                <a:latin typeface="Arial"/>
                <a:ea typeface="Arial"/>
                <a:cs typeface="Arial"/>
              </a:defRPr>
            </a:defPPr>
            <a:lvl1pPr algn="ctr">
              <a:buNone/>
              <a:defRPr>
                <a:latin typeface="Arial"/>
                <a:ea typeface="Arial"/>
                <a:cs typeface="Arial"/>
              </a:defRPr>
            </a:lvl1pPr>
            <a:lvl2pPr algn="ctr">
              <a:buNone/>
              <a:defRPr>
                <a:latin typeface="Arial"/>
                <a:ea typeface="Arial"/>
                <a:cs typeface="Arial"/>
              </a:defRPr>
            </a:lvl2pPr>
            <a:lvl3pPr algn="ctr">
              <a:buNone/>
              <a:defRPr>
                <a:latin typeface="Arial"/>
                <a:ea typeface="Arial"/>
                <a:cs typeface="Arial"/>
              </a:defRPr>
            </a:lvl3pPr>
            <a:lvl4pPr algn="ctr">
              <a:buNone/>
              <a:defRPr>
                <a:latin typeface="Arial"/>
                <a:ea typeface="Arial"/>
                <a:cs typeface="Arial"/>
              </a:defRPr>
            </a:lvl4pPr>
            <a:lvl5pPr algn="ctr">
              <a:buNone/>
              <a:defRPr>
                <a:latin typeface="Arial"/>
                <a:ea typeface="Arial"/>
                <a:cs typeface="Arial"/>
              </a:defRPr>
            </a:lvl5pPr>
            <a:lvl6pPr algn="ctr">
              <a:buNone/>
              <a:defRPr>
                <a:latin typeface="Arial"/>
                <a:ea typeface="Arial"/>
                <a:cs typeface="Arial"/>
              </a:defRPr>
            </a:lvl6pPr>
            <a:lvl7pPr algn="ctr">
              <a:buNone/>
              <a:defRPr>
                <a:latin typeface="Arial"/>
                <a:ea typeface="Arial"/>
                <a:cs typeface="Arial"/>
              </a:defRPr>
            </a:lvl7pPr>
            <a:lvl8pPr algn="ctr">
              <a:buNone/>
              <a:defRPr>
                <a:latin typeface="Arial"/>
                <a:ea typeface="Arial"/>
                <a:cs typeface="Arial"/>
              </a:defRPr>
            </a:lvl8pPr>
            <a:lvl9pPr algn="ctr">
              <a:buNone/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Target queries</a:t>
            </a:r>
          </a:p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151A1E"/>
                </a:solidFill>
                <a:latin typeface="Arial"/>
                <a:ea typeface="Arial"/>
                <a:cs typeface="Arial"/>
              </a:rPr>
              <a:t>RoPE</a:t>
            </a:r>
          </a:p>
        </p:txBody>
      </p:sp>
      <p:sp>
        <p:nvSpPr>
          <p:cNvPr id="1210" name="method-block-4">
            <a:extLst xmlns:a="http://schemas.openxmlformats.org/drawingml/2006/main">
              <a:ext uri="{FF2B5EF4-FFF2-40B4-BE49-F238E27FC236}">
                <a16:creationId xmlns:a16="http://schemas.microsoft.com/office/drawing/2014/main" id="{7E5CCBFF-776F-4E4D-BCCE-8585B287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17621250"/>
            <a:ext cx="1952625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59DB6"/>
            </a:solidFill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>
            <a:defPPr algn="ctr">
              <a:defRPr>
                <a:latin typeface="Arial"/>
                <a:ea typeface="Arial"/>
                <a:cs typeface="Arial"/>
              </a:defRPr>
            </a:defPPr>
            <a:lvl1pPr algn="ctr">
              <a:buNone/>
              <a:defRPr>
                <a:latin typeface="Arial"/>
                <a:ea typeface="Arial"/>
                <a:cs typeface="Arial"/>
              </a:defRPr>
            </a:lvl1pPr>
            <a:lvl2pPr algn="ctr">
              <a:buNone/>
              <a:defRPr>
                <a:latin typeface="Arial"/>
                <a:ea typeface="Arial"/>
                <a:cs typeface="Arial"/>
              </a:defRPr>
            </a:lvl2pPr>
            <a:lvl3pPr algn="ctr">
              <a:buNone/>
              <a:defRPr>
                <a:latin typeface="Arial"/>
                <a:ea typeface="Arial"/>
                <a:cs typeface="Arial"/>
              </a:defRPr>
            </a:lvl3pPr>
            <a:lvl4pPr algn="ctr">
              <a:buNone/>
              <a:defRPr>
                <a:latin typeface="Arial"/>
                <a:ea typeface="Arial"/>
                <a:cs typeface="Arial"/>
              </a:defRPr>
            </a:lvl4pPr>
            <a:lvl5pPr algn="ctr">
              <a:buNone/>
              <a:defRPr>
                <a:latin typeface="Arial"/>
                <a:ea typeface="Arial"/>
                <a:cs typeface="Arial"/>
              </a:defRPr>
            </a:lvl5pPr>
            <a:lvl6pPr algn="ctr">
              <a:buNone/>
              <a:defRPr>
                <a:latin typeface="Arial"/>
                <a:ea typeface="Arial"/>
                <a:cs typeface="Arial"/>
              </a:defRPr>
            </a:lvl6pPr>
            <a:lvl7pPr algn="ctr">
              <a:buNone/>
              <a:defRPr>
                <a:latin typeface="Arial"/>
                <a:ea typeface="Arial"/>
                <a:cs typeface="Arial"/>
              </a:defRPr>
            </a:lvl7pPr>
            <a:lvl8pPr algn="ctr">
              <a:buNone/>
              <a:defRPr>
                <a:latin typeface="Arial"/>
                <a:ea typeface="Arial"/>
                <a:cs typeface="Arial"/>
              </a:defRPr>
            </a:lvl8pPr>
            <a:lvl9pPr algn="ctr">
              <a:buNone/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Task-specific</a:t>
            </a:r>
          </a:p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151A1E"/>
                </a:solidFill>
                <a:latin typeface="Arial"/>
                <a:ea typeface="Arial"/>
                <a:cs typeface="Arial"/>
              </a:rPr>
              <a:t>price head</a:t>
            </a:r>
          </a:p>
        </p:txBody>
      </p:sp>
      <p:sp>
        <p:nvSpPr>
          <p:cNvPr id="1217" name="method-task-0">
            <a:extLst xmlns:a="http://schemas.openxmlformats.org/drawingml/2006/main">
              <a:ext uri="{FF2B5EF4-FFF2-40B4-BE49-F238E27FC236}">
                <a16:creationId xmlns:a16="http://schemas.microsoft.com/office/drawing/2014/main" id="{550801AA-530F-4FAA-82B4-6B3343A9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9335750"/>
            <a:ext cx="3476625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3335">
            <a:solidFill>
              <a:srgbClr val="1769AA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>
            <a:defPPr algn="ctr">
              <a:defRPr>
                <a:latin typeface="Arial"/>
                <a:ea typeface="Arial"/>
                <a:cs typeface="Arial"/>
              </a:defRPr>
            </a:defPPr>
            <a:lvl1pPr algn="ctr">
              <a:buNone/>
              <a:defRPr>
                <a:latin typeface="Arial"/>
                <a:ea typeface="Arial"/>
                <a:cs typeface="Arial"/>
              </a:defRPr>
            </a:lvl1pPr>
            <a:lvl2pPr algn="ctr">
              <a:buNone/>
              <a:defRPr>
                <a:latin typeface="Arial"/>
                <a:ea typeface="Arial"/>
                <a:cs typeface="Arial"/>
              </a:defRPr>
            </a:lvl2pPr>
            <a:lvl3pPr algn="ctr">
              <a:buNone/>
              <a:defRPr>
                <a:latin typeface="Arial"/>
                <a:ea typeface="Arial"/>
                <a:cs typeface="Arial"/>
              </a:defRPr>
            </a:lvl3pPr>
            <a:lvl4pPr algn="ctr">
              <a:buNone/>
              <a:defRPr>
                <a:latin typeface="Arial"/>
                <a:ea typeface="Arial"/>
                <a:cs typeface="Arial"/>
              </a:defRPr>
            </a:lvl4pPr>
            <a:lvl5pPr algn="ctr">
              <a:buNone/>
              <a:defRPr>
                <a:latin typeface="Arial"/>
                <a:ea typeface="Arial"/>
                <a:cs typeface="Arial"/>
              </a:defRPr>
            </a:lvl5pPr>
            <a:lvl6pPr algn="ctr">
              <a:buNone/>
              <a:defRPr>
                <a:latin typeface="Arial"/>
                <a:ea typeface="Arial"/>
                <a:cs typeface="Arial"/>
              </a:defRPr>
            </a:lvl6pPr>
            <a:lvl7pPr algn="ctr">
              <a:buNone/>
              <a:defRPr>
                <a:latin typeface="Arial"/>
                <a:ea typeface="Arial"/>
                <a:cs typeface="Arial"/>
              </a:defRPr>
            </a:lvl7pPr>
            <a:lvl8pPr algn="ctr">
              <a:buNone/>
              <a:defRPr>
                <a:latin typeface="Arial"/>
                <a:ea typeface="Arial"/>
                <a:cs typeface="Arial"/>
              </a:defRPr>
            </a:lvl8pPr>
            <a:lvl9pPr algn="ctr">
              <a:buNone/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DA Transformer</a:t>
            </a:r>
          </a:p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51A1E"/>
                </a:solidFill>
                <a:latin typeface="Arial"/>
                <a:ea typeface="Arial"/>
                <a:cs typeface="Arial"/>
              </a:rPr>
              <a:t>D−1 · F1 · MAE · 24 h</a:t>
            </a:r>
          </a:p>
        </p:txBody>
      </p:sp>
      <p:sp>
        <p:nvSpPr>
          <p:cNvPr id="1219" name="method-task-1">
            <a:extLst xmlns:a="http://schemas.openxmlformats.org/drawingml/2006/main">
              <a:ext uri="{FF2B5EF4-FFF2-40B4-BE49-F238E27FC236}">
                <a16:creationId xmlns:a16="http://schemas.microsoft.com/office/drawing/2014/main" id="{A092F21F-02C2-4223-9169-53DC9D6C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335750"/>
            <a:ext cx="3476625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6E2"/>
          </a:solidFill>
          <a:ln xmlns:a="http://schemas.openxmlformats.org/drawingml/2006/main" w="13335">
            <a:solidFill>
              <a:srgbClr val="DB981B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>
            <a:defPPr algn="ctr">
              <a:defRPr>
                <a:latin typeface="Arial"/>
                <a:ea typeface="Arial"/>
                <a:cs typeface="Arial"/>
              </a:defRPr>
            </a:defPPr>
            <a:lvl1pPr algn="ctr">
              <a:buNone/>
              <a:defRPr>
                <a:latin typeface="Arial"/>
                <a:ea typeface="Arial"/>
                <a:cs typeface="Arial"/>
              </a:defRPr>
            </a:lvl1pPr>
            <a:lvl2pPr algn="ctr">
              <a:buNone/>
              <a:defRPr>
                <a:latin typeface="Arial"/>
                <a:ea typeface="Arial"/>
                <a:cs typeface="Arial"/>
              </a:defRPr>
            </a:lvl2pPr>
            <a:lvl3pPr algn="ctr">
              <a:buNone/>
              <a:defRPr>
                <a:latin typeface="Arial"/>
                <a:ea typeface="Arial"/>
                <a:cs typeface="Arial"/>
              </a:defRPr>
            </a:lvl3pPr>
            <a:lvl4pPr algn="ctr">
              <a:buNone/>
              <a:defRPr>
                <a:latin typeface="Arial"/>
                <a:ea typeface="Arial"/>
                <a:cs typeface="Arial"/>
              </a:defRPr>
            </a:lvl4pPr>
            <a:lvl5pPr algn="ctr">
              <a:buNone/>
              <a:defRPr>
                <a:latin typeface="Arial"/>
                <a:ea typeface="Arial"/>
                <a:cs typeface="Arial"/>
              </a:defRPr>
            </a:lvl5pPr>
            <a:lvl6pPr algn="ctr">
              <a:buNone/>
              <a:defRPr>
                <a:latin typeface="Arial"/>
                <a:ea typeface="Arial"/>
                <a:cs typeface="Arial"/>
              </a:defRPr>
            </a:lvl6pPr>
            <a:lvl7pPr algn="ctr">
              <a:buNone/>
              <a:defRPr>
                <a:latin typeface="Arial"/>
                <a:ea typeface="Arial"/>
                <a:cs typeface="Arial"/>
              </a:defRPr>
            </a:lvl7pPr>
            <a:lvl8pPr algn="ctr">
              <a:buNone/>
              <a:defRPr>
                <a:latin typeface="Arial"/>
                <a:ea typeface="Arial"/>
                <a:cs typeface="Arial"/>
              </a:defRPr>
            </a:lvl8pPr>
            <a:lvl9pPr algn="ctr">
              <a:buNone/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RT-at-DA Transformer</a:t>
            </a:r>
          </a:p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51A1E"/>
                </a:solidFill>
                <a:latin typeface="Arial"/>
                <a:ea typeface="Arial"/>
                <a:cs typeface="Arial"/>
              </a:rPr>
              <a:t>D−1 · F0 · pseudo-Huber · 24 h</a:t>
            </a:r>
          </a:p>
        </p:txBody>
      </p:sp>
      <p:sp>
        <p:nvSpPr>
          <p:cNvPr id="1221" name="method-task-2">
            <a:extLst xmlns:a="http://schemas.openxmlformats.org/drawingml/2006/main">
              <a:ext uri="{FF2B5EF4-FFF2-40B4-BE49-F238E27FC236}">
                <a16:creationId xmlns:a16="http://schemas.microsoft.com/office/drawing/2014/main" id="{B130F1D2-B53A-42E2-A1F0-BBBAD515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9335750"/>
            <a:ext cx="3476625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6F2"/>
          </a:solidFill>
          <a:ln xmlns:a="http://schemas.openxmlformats.org/drawingml/2006/main" w="13335">
            <a:solidFill>
              <a:srgbClr val="138477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>
            <a:defPPr algn="ctr">
              <a:defRPr>
                <a:latin typeface="Arial"/>
                <a:ea typeface="Arial"/>
                <a:cs typeface="Arial"/>
              </a:defRPr>
            </a:defPPr>
            <a:lvl1pPr algn="ctr">
              <a:buNone/>
              <a:defRPr>
                <a:latin typeface="Arial"/>
                <a:ea typeface="Arial"/>
                <a:cs typeface="Arial"/>
              </a:defRPr>
            </a:lvl1pPr>
            <a:lvl2pPr algn="ctr">
              <a:buNone/>
              <a:defRPr>
                <a:latin typeface="Arial"/>
                <a:ea typeface="Arial"/>
                <a:cs typeface="Arial"/>
              </a:defRPr>
            </a:lvl2pPr>
            <a:lvl3pPr algn="ctr">
              <a:buNone/>
              <a:defRPr>
                <a:latin typeface="Arial"/>
                <a:ea typeface="Arial"/>
                <a:cs typeface="Arial"/>
              </a:defRPr>
            </a:lvl3pPr>
            <a:lvl4pPr algn="ctr">
              <a:buNone/>
              <a:defRPr>
                <a:latin typeface="Arial"/>
                <a:ea typeface="Arial"/>
                <a:cs typeface="Arial"/>
              </a:defRPr>
            </a:lvl4pPr>
            <a:lvl5pPr algn="ctr">
              <a:buNone/>
              <a:defRPr>
                <a:latin typeface="Arial"/>
                <a:ea typeface="Arial"/>
                <a:cs typeface="Arial"/>
              </a:defRPr>
            </a:lvl5pPr>
            <a:lvl6pPr algn="ctr">
              <a:buNone/>
              <a:defRPr>
                <a:latin typeface="Arial"/>
                <a:ea typeface="Arial"/>
                <a:cs typeface="Arial"/>
              </a:defRPr>
            </a:lvl6pPr>
            <a:lvl7pPr algn="ctr">
              <a:buNone/>
              <a:defRPr>
                <a:latin typeface="Arial"/>
                <a:ea typeface="Arial"/>
                <a:cs typeface="Arial"/>
              </a:defRPr>
            </a:lvl7pPr>
            <a:lvl8pPr algn="ctr">
              <a:buNone/>
              <a:defRPr>
                <a:latin typeface="Arial"/>
                <a:ea typeface="Arial"/>
                <a:cs typeface="Arial"/>
              </a:defRPr>
            </a:lvl8pPr>
            <a:lvl9pPr algn="ctr">
              <a:buNone/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Rolling RT Transformer</a:t>
            </a:r>
          </a:p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51A1E"/>
                </a:solidFill>
                <a:latin typeface="Arial"/>
                <a:ea typeface="Arial"/>
                <a:cs typeface="Arial"/>
              </a:rPr>
              <a:t>hourly · F1 · MAE · next 4 h</a:t>
            </a:r>
          </a:p>
        </p:txBody>
      </p:sp>
      <p:sp>
        <p:nvSpPr>
          <p:cNvPr id="1223" name="method-lp">
            <a:extLst xmlns:a="http://schemas.openxmlformats.org/drawingml/2006/main">
              <a:ext uri="{FF2B5EF4-FFF2-40B4-BE49-F238E27FC236}">
                <a16:creationId xmlns:a16="http://schemas.microsoft.com/office/drawing/2014/main" id="{1FF70EDE-F669-40C1-8051-17EB756C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574000"/>
            <a:ext cx="4095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3EFF8"/>
          </a:solidFill>
          <a:ln xmlns:a="http://schemas.openxmlformats.org/drawingml/2006/main" w="13335">
            <a:solidFill>
              <a:srgbClr val="745A9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Day-ahead LP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locks the 24-hour plan</a:t>
            </a:r>
          </a:p>
        </p:txBody>
      </p:sp>
      <p:sp>
        <p:nvSpPr>
          <p:cNvPr id="1224" name="method-mpc">
            <a:extLst xmlns:a="http://schemas.openxmlformats.org/drawingml/2006/main">
              <a:ext uri="{FF2B5EF4-FFF2-40B4-BE49-F238E27FC236}">
                <a16:creationId xmlns:a16="http://schemas.microsoft.com/office/drawing/2014/main" id="{397AF388-67D9-4D9A-9344-C62FA285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574000"/>
            <a:ext cx="4095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3335">
            <a:solidFill>
              <a:srgbClr val="1769A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Rolling 4-hour RT MPC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executes the first action</a:t>
            </a:r>
          </a:p>
        </p:txBody>
      </p:sp>
      <p:sp>
        <p:nvSpPr>
          <p:cNvPr id="1229" name="method-settlement">
            <a:extLst xmlns:a="http://schemas.openxmlformats.org/drawingml/2006/main">
              <a:ext uri="{FF2B5EF4-FFF2-40B4-BE49-F238E27FC236}">
                <a16:creationId xmlns:a16="http://schemas.microsoft.com/office/drawing/2014/main" id="{E75BA655-A2FC-4D7D-9CDC-0D89413E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640800"/>
            <a:ext cx="1095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12383">
            <a:solidFill>
              <a:srgbClr val="667A89"/>
            </a:solidFill>
            <a:prstDash val="solid"/>
          </a:ln>
        </p:spPr>
      </p:sp>
      <p:sp>
        <p:nvSpPr>
          <p:cNvPr id="1230" name="method-settlement-text">
            <a:extLst xmlns:a="http://schemas.openxmlformats.org/drawingml/2006/main">
              <a:ext uri="{FF2B5EF4-FFF2-40B4-BE49-F238E27FC236}">
                <a16:creationId xmlns:a16="http://schemas.microsoft.com/office/drawing/2014/main" id="{286C1A0C-E15A-4C0C-B3D2-D1B9940E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764625"/>
            <a:ext cx="1064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043"/>
          </a:bodyPr>
          <a:lstStyle xmlns:a="http://schemas.openxmlformats.org/drawingml/2006/main">
            <a:defPPr algn="ctr"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Actions are fixed before actual prices settle: DA leg + RT deviation − 5.7 × throughput − 2|pRT| × excess deviation</a:t>
            </a:r>
          </a:p>
        </p:txBody>
      </p:sp>
      <p:sp>
        <p:nvSpPr>
          <p:cNvPr id="1231" name="findings-subheading">
            <a:extLst xmlns:a="http://schemas.openxmlformats.org/drawingml/2006/main">
              <a:ext uri="{FF2B5EF4-FFF2-40B4-BE49-F238E27FC236}">
                <a16:creationId xmlns:a16="http://schemas.microsoft.com/office/drawing/2014/main" id="{8F3A1242-F62E-4C90-A6AB-01EA8D2A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15240000"/>
            <a:ext cx="8582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2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8477"/>
                </a:solidFill>
                <a:latin typeface="Arial"/>
                <a:ea typeface="Arial"/>
                <a:cs typeface="Arial"/>
              </a:rPr>
              <a:t>Locked 2025 evidence</a:t>
            </a:r>
          </a:p>
        </p:txBody>
      </p:sp>
      <p:sp>
        <p:nvSpPr>
          <p:cNvPr id="1232" name="findings-big">
            <a:extLst xmlns:a="http://schemas.openxmlformats.org/drawingml/2006/main">
              <a:ext uri="{FF2B5EF4-FFF2-40B4-BE49-F238E27FC236}">
                <a16:creationId xmlns:a16="http://schemas.microsoft.com/office/drawing/2014/main" id="{FBB98301-09AD-4B32-A2BE-02B66411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1571625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43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43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43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43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43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43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43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43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43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43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43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1233" name="findings-big-caption">
            <a:extLst xmlns:a="http://schemas.openxmlformats.org/drawingml/2006/main">
              <a:ext uri="{FF2B5EF4-FFF2-40B4-BE49-F238E27FC236}">
                <a16:creationId xmlns:a16="http://schemas.microsoft.com/office/drawing/2014/main" id="{C93D50CF-54F3-4837-8F5C-3AB6E8B1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0875" y="15763875"/>
            <a:ext cx="6248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lower MAE in every locked task-to-baseline comparison</a:t>
            </a:r>
          </a:p>
        </p:txBody>
      </p:sp>
      <p:graphicFrame>
        <p:nvGraphicFramePr>
          <p:cNvPr id="1234" name="">
            <a:extLst xmlns:a="http://schemas.openxmlformats.org/drawingml/2006/main">
              <a:ext uri="{FF2B5EF4-FFF2-40B4-BE49-F238E27FC236}">
                <a16:creationId xmlns:a16="http://schemas.microsoft.com/office/drawing/2014/main" id="{06A021F4-6C3C-46E4-B37C-A1F31CB3B61B}"/>
              </a:ext>
            </a:extLst>
          </p:cNvPr>
          <p:cNvGraphicFramePr/>
          <p:nvPr/>
        </p:nvGraphicFramePr>
        <p:xfrm>
          <a:off xmlns:a="http://schemas.openxmlformats.org/drawingml/2006/main" x="12287250" y="16573500"/>
          <a:ext xmlns:a="http://schemas.openxmlformats.org/drawingml/2006/main" cx="8582025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1952625"/>
                <a:gridCol w="2143125"/>
                <a:gridCol w="1962150"/>
              </a:tblGrid>
              <a:tr h="571500"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 anchor="ctr">
                    <a:lnL w="10478">
                      <a:solidFill>
                        <a:srgbClr val="8796A3"/>
                      </a:solidFill>
                      <a:prstDash val="solid"/>
                    </a:lnL>
                    <a:lnR w="10478">
                      <a:solidFill>
                        <a:srgbClr val="8796A3"/>
                      </a:solidFill>
                      <a:prstDash val="solid"/>
                    </a:lnR>
                    <a:lnT w="10478">
                      <a:solidFill>
                        <a:srgbClr val="8796A3"/>
                      </a:solidFill>
                      <a:prstDash val="solid"/>
                    </a:lnT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</a:t>
                      </a:r>
                    </a:p>
                  </a:txBody>
                  <a:tcPr marL="91440" marR="91440" marT="45720" marB="45720" anchor="ctr">
                    <a:lnR w="10478">
                      <a:solidFill>
                        <a:srgbClr val="8796A3"/>
                      </a:solidFill>
                      <a:prstDash val="solid"/>
                    </a:lnR>
                    <a:lnT w="10478">
                      <a:solidFill>
                        <a:srgbClr val="8796A3"/>
                      </a:solidFill>
                      <a:prstDash val="solid"/>
                    </a:lnT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RT-at-DA</a:t>
                      </a:r>
                    </a:p>
                  </a:txBody>
                  <a:tcPr marL="91440" marR="91440" marT="45720" marB="45720" anchor="ctr">
                    <a:lnR w="10478">
                      <a:solidFill>
                        <a:srgbClr val="8796A3"/>
                      </a:solidFill>
                      <a:prstDash val="solid"/>
                    </a:lnR>
                    <a:lnT w="10478">
                      <a:solidFill>
                        <a:srgbClr val="8796A3"/>
                      </a:solidFill>
                      <a:prstDash val="solid"/>
                    </a:lnT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Rolling RT</a:t>
                      </a:r>
                    </a:p>
                  </a:txBody>
                  <a:tcPr marL="91440" marR="91440" marT="45720" marB="45720" anchor="ctr">
                    <a:lnR w="10478">
                      <a:solidFill>
                        <a:srgbClr val="8796A3"/>
                      </a:solidFill>
                      <a:prstDash val="solid"/>
                    </a:lnR>
                    <a:lnT w="10478">
                      <a:solidFill>
                        <a:srgbClr val="8796A3"/>
                      </a:solidFill>
                      <a:prstDash val="solid"/>
                    </a:lnT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571500"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151A1E"/>
                          </a:solidFill>
                          <a:latin typeface="Arial"/>
                          <a:ea typeface="Arial"/>
                          <a:cs typeface="Arial"/>
                        </a:rPr>
                        <a:t>Transformer</a:t>
                      </a:r>
                    </a:p>
                  </a:txBody>
                  <a:tcPr marL="91440" marR="91440" marT="45720" marB="45720" anchor="ctr">
                    <a:lnL w="10478">
                      <a:solidFill>
                        <a:srgbClr val="8796A3"/>
                      </a:solidFill>
                      <a:prstDash val="solid"/>
                    </a:lnL>
                    <a:lnR w="10478">
                      <a:solidFill>
                        <a:srgbClr val="8796A3"/>
                      </a:solidFill>
                      <a:prstDash val="solid"/>
                    </a:lnR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151A1E"/>
                          </a:solidFill>
                          <a:latin typeface="Arial"/>
                          <a:ea typeface="Arial"/>
                          <a:cs typeface="Arial"/>
                        </a:rPr>
                        <a:t>10.46</a:t>
                      </a:r>
                    </a:p>
                  </a:txBody>
                  <a:tcPr marL="91440" marR="91440" marT="45720" marB="45720" anchor="ctr">
                    <a:lnR w="10478">
                      <a:solidFill>
                        <a:srgbClr val="8796A3"/>
                      </a:solidFill>
                      <a:prstDash val="solid"/>
                    </a:lnR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151A1E"/>
                          </a:solidFill>
                          <a:latin typeface="Arial"/>
                          <a:ea typeface="Arial"/>
                          <a:cs typeface="Arial"/>
                        </a:rPr>
                        <a:t>15.14</a:t>
                      </a:r>
                    </a:p>
                  </a:txBody>
                  <a:tcPr marL="91440" marR="91440" marT="45720" marB="45720" anchor="ctr">
                    <a:lnR w="10478">
                      <a:solidFill>
                        <a:srgbClr val="8796A3"/>
                      </a:solidFill>
                      <a:prstDash val="solid"/>
                    </a:lnR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151A1E"/>
                          </a:solidFill>
                          <a:latin typeface="Arial"/>
                          <a:ea typeface="Arial"/>
                          <a:cs typeface="Arial"/>
                        </a:rPr>
                        <a:t>9.69</a:t>
                      </a:r>
                    </a:p>
                  </a:txBody>
                  <a:tcPr marL="91440" marR="91440" marT="45720" marB="45720" anchor="ctr">
                    <a:lnR w="10478">
                      <a:solidFill>
                        <a:srgbClr val="8796A3"/>
                      </a:solidFill>
                      <a:prstDash val="solid"/>
                    </a:lnR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151A1E"/>
                          </a:solidFill>
                          <a:latin typeface="Arial"/>
                          <a:ea typeface="Arial"/>
                          <a:cs typeface="Arial"/>
                        </a:rPr>
                        <a:t>TimesFM-3</a:t>
                      </a:r>
                    </a:p>
                  </a:txBody>
                  <a:tcPr marL="91440" marR="91440" marT="45720" marB="45720" anchor="ctr">
                    <a:lnL w="10478">
                      <a:solidFill>
                        <a:srgbClr val="8796A3"/>
                      </a:solidFill>
                      <a:prstDash val="solid"/>
                    </a:lnL>
                    <a:lnR w="10478">
                      <a:solidFill>
                        <a:srgbClr val="8796A3"/>
                      </a:solidFill>
                      <a:prstDash val="solid"/>
                    </a:lnR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51A1E"/>
                          </a:solidFill>
                          <a:latin typeface="Arial"/>
                          <a:ea typeface="Arial"/>
                          <a:cs typeface="Arial"/>
                        </a:rPr>
                        <a:t>20.51</a:t>
                      </a:r>
                    </a:p>
                  </a:txBody>
                  <a:tcPr marL="91440" marR="91440" marT="45720" marB="45720" anchor="ctr">
                    <a:lnR w="10478">
                      <a:solidFill>
                        <a:srgbClr val="8796A3"/>
                      </a:solidFill>
                      <a:prstDash val="solid"/>
                    </a:lnR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51A1E"/>
                          </a:solidFill>
                          <a:latin typeface="Arial"/>
                          <a:ea typeface="Arial"/>
                          <a:cs typeface="Arial"/>
                        </a:rPr>
                        <a:t>21.42</a:t>
                      </a:r>
                    </a:p>
                  </a:txBody>
                  <a:tcPr marL="91440" marR="91440" marT="45720" marB="45720" anchor="ctr">
                    <a:lnR w="10478">
                      <a:solidFill>
                        <a:srgbClr val="8796A3"/>
                      </a:solidFill>
                      <a:prstDash val="solid"/>
                    </a:lnR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51A1E"/>
                          </a:solidFill>
                          <a:latin typeface="Arial"/>
                          <a:ea typeface="Arial"/>
                          <a:cs typeface="Arial"/>
                        </a:rPr>
                        <a:t>10.24</a:t>
                      </a:r>
                    </a:p>
                  </a:txBody>
                  <a:tcPr marL="91440" marR="91440" marT="45720" marB="45720" anchor="ctr">
                    <a:lnR w="10478">
                      <a:solidFill>
                        <a:srgbClr val="8796A3"/>
                      </a:solidFill>
                      <a:prstDash val="solid"/>
                    </a:lnR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571500"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151A1E"/>
                          </a:solidFill>
                          <a:latin typeface="Arial"/>
                          <a:ea typeface="Arial"/>
                          <a:cs typeface="Arial"/>
                        </a:rPr>
                        <a:t>Pooled XGB</a:t>
                      </a:r>
                    </a:p>
                  </a:txBody>
                  <a:tcPr marL="91440" marR="91440" marT="45720" marB="45720" anchor="ctr">
                    <a:lnL w="10478">
                      <a:solidFill>
                        <a:srgbClr val="8796A3"/>
                      </a:solidFill>
                      <a:prstDash val="solid"/>
                    </a:lnL>
                    <a:lnR w="10478">
                      <a:solidFill>
                        <a:srgbClr val="8796A3"/>
                      </a:solidFill>
                      <a:prstDash val="solid"/>
                    </a:lnR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51A1E"/>
                          </a:solidFill>
                          <a:latin typeface="Arial"/>
                          <a:ea typeface="Arial"/>
                          <a:cs typeface="Arial"/>
                        </a:rPr>
                        <a:t>11.18</a:t>
                      </a:r>
                    </a:p>
                  </a:txBody>
                  <a:tcPr marL="91440" marR="91440" marT="45720" marB="45720" anchor="ctr">
                    <a:lnR w="10478">
                      <a:solidFill>
                        <a:srgbClr val="8796A3"/>
                      </a:solidFill>
                      <a:prstDash val="solid"/>
                    </a:lnR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51A1E"/>
                          </a:solidFill>
                          <a:latin typeface="Arial"/>
                          <a:ea typeface="Arial"/>
                          <a:cs typeface="Arial"/>
                        </a:rPr>
                        <a:t>15.72</a:t>
                      </a:r>
                    </a:p>
                  </a:txBody>
                  <a:tcPr marL="91440" marR="91440" marT="45720" marB="45720" anchor="ctr">
                    <a:lnR w="10478">
                      <a:solidFill>
                        <a:srgbClr val="8796A3"/>
                      </a:solidFill>
                      <a:prstDash val="solid"/>
                    </a:lnR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51A1E"/>
                          </a:solidFill>
                          <a:latin typeface="Arial"/>
                          <a:ea typeface="Arial"/>
                          <a:cs typeface="Arial"/>
                        </a:rPr>
                        <a:t>10.05</a:t>
                      </a:r>
                    </a:p>
                  </a:txBody>
                  <a:tcPr marL="91440" marR="91440" marT="45720" marB="45720" anchor="ctr">
                    <a:lnR w="10478">
                      <a:solidFill>
                        <a:srgbClr val="8796A3"/>
                      </a:solidFill>
                      <a:prstDash val="solid"/>
                    </a:lnR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151A1E"/>
                          </a:solidFill>
                          <a:latin typeface="Arial"/>
                          <a:ea typeface="Arial"/>
                          <a:cs typeface="Arial"/>
                        </a:rPr>
                        <a:t>DLinear</a:t>
                      </a:r>
                    </a:p>
                  </a:txBody>
                  <a:tcPr marL="91440" marR="91440" marT="45720" marB="45720" anchor="ctr">
                    <a:lnL w="10478">
                      <a:solidFill>
                        <a:srgbClr val="8796A3"/>
                      </a:solidFill>
                      <a:prstDash val="solid"/>
                    </a:lnL>
                    <a:lnR w="10478">
                      <a:solidFill>
                        <a:srgbClr val="8796A3"/>
                      </a:solidFill>
                      <a:prstDash val="solid"/>
                    </a:lnR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51A1E"/>
                          </a:solidFill>
                          <a:latin typeface="Arial"/>
                          <a:ea typeface="Arial"/>
                          <a:cs typeface="Arial"/>
                        </a:rPr>
                        <a:t>11.77</a:t>
                      </a:r>
                    </a:p>
                  </a:txBody>
                  <a:tcPr marL="91440" marR="91440" marT="45720" marB="45720" anchor="ctr">
                    <a:lnR w="10478">
                      <a:solidFill>
                        <a:srgbClr val="8796A3"/>
                      </a:solidFill>
                      <a:prstDash val="solid"/>
                    </a:lnR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51A1E"/>
                          </a:solidFill>
                          <a:latin typeface="Arial"/>
                          <a:ea typeface="Arial"/>
                          <a:cs typeface="Arial"/>
                        </a:rPr>
                        <a:t>16.81</a:t>
                      </a:r>
                    </a:p>
                  </a:txBody>
                  <a:tcPr marL="91440" marR="91440" marT="45720" marB="45720" anchor="ctr">
                    <a:lnR w="10478">
                      <a:solidFill>
                        <a:srgbClr val="8796A3"/>
                      </a:solidFill>
                      <a:prstDash val="solid"/>
                    </a:lnR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51A1E"/>
                          </a:solidFill>
                          <a:latin typeface="Arial"/>
                          <a:ea typeface="Arial"/>
                          <a:cs typeface="Arial"/>
                        </a:rPr>
                        <a:t>12.61</a:t>
                      </a:r>
                    </a:p>
                  </a:txBody>
                  <a:tcPr marL="91440" marR="91440" marT="45720" marB="45720" anchor="ctr">
                    <a:lnR w="10478">
                      <a:solidFill>
                        <a:srgbClr val="8796A3"/>
                      </a:solidFill>
                      <a:prstDash val="solid"/>
                    </a:lnR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1235" name="mae-table-caption">
            <a:extLst xmlns:a="http://schemas.openxmlformats.org/drawingml/2006/main">
              <a:ext uri="{FF2B5EF4-FFF2-40B4-BE49-F238E27FC236}">
                <a16:creationId xmlns:a16="http://schemas.microsoft.com/office/drawing/2014/main" id="{E62EA127-F3A9-4CAA-9258-7F5A62B3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19507200"/>
            <a:ext cx="8582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42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42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42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42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42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42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42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42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425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425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51A1E"/>
                </a:solidFill>
                <a:latin typeface="Arial"/>
                <a:ea typeface="Arial"/>
                <a:cs typeface="Arial"/>
              </a:rPr>
              <a:t>Four-market macro MAE in USD/MWh. Lower values are better.</a:t>
            </a:r>
          </a:p>
        </p:txBody>
      </p:sp>
      <p:sp>
        <p:nvSpPr>
          <p:cNvPr id="1236" name="profit-heading">
            <a:extLst xmlns:a="http://schemas.openxmlformats.org/drawingml/2006/main">
              <a:ext uri="{FF2B5EF4-FFF2-40B4-BE49-F238E27FC236}">
                <a16:creationId xmlns:a16="http://schemas.microsoft.com/office/drawing/2014/main" id="{747DBC4C-EDF3-4C7E-AFD1-DF05E1CA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19869150"/>
            <a:ext cx="858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ERCOT net revenue (USD/node-day)</a:t>
            </a:r>
          </a:p>
        </p:txBody>
      </p:sp>
      <p:sp>
        <p:nvSpPr>
          <p:cNvPr id="1238" name="analysis-title">
            <a:extLst xmlns:a="http://schemas.openxmlformats.org/drawingml/2006/main">
              <a:ext uri="{FF2B5EF4-FFF2-40B4-BE49-F238E27FC236}">
                <a16:creationId xmlns:a16="http://schemas.microsoft.com/office/drawing/2014/main" id="{B46E44A3-5F6E-47A2-A292-CE9F0EC7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574250"/>
            <a:ext cx="2034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In-depth analysis: why profit lagged accuracy</a:t>
            </a:r>
          </a:p>
        </p:txBody>
      </p:sp>
      <p:sp>
        <p:nvSpPr>
          <p:cNvPr id="1239" name="analysis-rule">
            <a:extLst xmlns:a="http://schemas.openxmlformats.org/drawingml/2006/main">
              <a:ext uri="{FF2B5EF4-FFF2-40B4-BE49-F238E27FC236}">
                <a16:creationId xmlns:a16="http://schemas.microsoft.com/office/drawing/2014/main" id="{AD420A3C-4A1E-42B7-B0CB-E56A0AB9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079075"/>
            <a:ext cx="2034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E3F4B"/>
            </a:solidFill>
            <a:prstDash val="solid"/>
          </a:ln>
        </p:spPr>
      </p:sp>
      <p:sp>
        <p:nvSpPr>
          <p:cNvPr id="1240" name="tail-title">
            <a:extLst xmlns:a="http://schemas.openxmlformats.org/drawingml/2006/main">
              <a:ext uri="{FF2B5EF4-FFF2-40B4-BE49-F238E27FC236}">
                <a16:creationId xmlns:a16="http://schemas.microsoft.com/office/drawing/2014/main" id="{F2EC6FB3-7BB4-4E4F-9823-FD4E9112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2410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210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E3F4B"/>
                </a:solidFill>
                <a:latin typeface="Arial"/>
                <a:ea typeface="Arial"/>
                <a:cs typeface="Arial"/>
              </a:rPr>
              <a:t>Extreme spreads were compressed by 98.71%</a:t>
            </a:r>
          </a:p>
        </p:txBody>
      </p:sp>
      <p:sp>
        <p:nvSpPr>
          <p:cNvPr id="1241" name="tail-copy">
            <a:extLst xmlns:a="http://schemas.openxmlformats.org/drawingml/2006/main">
              <a:ext uri="{FF2B5EF4-FFF2-40B4-BE49-F238E27FC236}">
                <a16:creationId xmlns:a16="http://schemas.microsoft.com/office/drawing/2014/main" id="{9BB64399-5BAB-456A-AE66-387CC710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71725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77"/>
          </a:bodyPr>
          <a:lstStyle xmlns:a="http://schemas.openxmlformats.org/drawingml/2006/main">
            <a:defPPr>
              <a:defRPr sz="1800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3000"/>
              </a:lnSpc>
              <a:buNone/>
              <a:defRPr sz="1800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1A1E"/>
                </a:solidFill>
                <a:latin typeface="Arial"/>
                <a:ea typeface="Arial"/>
                <a:cs typeface="Arial"/>
              </a:rPr>
              <a:t>The universal Transformer reduced average error, but captured only 1.29% of the observed amplitude in the top 1% DA–RT spread hours. Positive-spike recall was 0, so the optimizer missed the most valuable charge and discharge opportunities.</a:t>
            </a:r>
          </a:p>
        </p:txBody>
      </p:sp>
      <p:sp>
        <p:nvSpPr>
          <p:cNvPr id="1263" name="routes-title">
            <a:extLst xmlns:a="http://schemas.openxmlformats.org/drawingml/2006/main">
              <a:ext uri="{FF2B5EF4-FFF2-40B4-BE49-F238E27FC236}">
                <a16:creationId xmlns:a16="http://schemas.microsoft.com/office/drawing/2014/main" id="{B013BB22-1458-4546-8BAE-BD16FE66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241000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2100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745A9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5A92"/>
                </a:solidFill>
                <a:latin typeface="Arial"/>
                <a:ea typeface="Arial"/>
                <a:cs typeface="Arial"/>
              </a:rPr>
              <a:t>Routes tested after the universal model</a:t>
            </a:r>
          </a:p>
        </p:txBody>
      </p:sp>
      <p:graphicFrame>
        <p:nvGraphicFramePr>
          <p:cNvPr id="1264" name="">
            <a:extLst xmlns:a="http://schemas.openxmlformats.org/drawingml/2006/main">
              <a:ext uri="{FF2B5EF4-FFF2-40B4-BE49-F238E27FC236}">
                <a16:creationId xmlns:a16="http://schemas.microsoft.com/office/drawing/2014/main" id="{D5C49554-D491-406B-B6CC-F202DB661C5C}"/>
              </a:ext>
            </a:extLst>
          </p:cNvPr>
          <p:cNvGraphicFramePr/>
          <p:nvPr/>
        </p:nvGraphicFramePr>
        <p:xfrm>
          <a:off xmlns:a="http://schemas.openxmlformats.org/drawingml/2006/main" x="7000875" y="23764875"/>
          <a:ext xmlns:a="http://schemas.openxmlformats.org/drawingml/2006/main" cx="67627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2809875"/>
                <a:gridCol w="1905000"/>
              </a:tblGrid>
              <a:tr h="666750"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Route</a:t>
                      </a:r>
                    </a:p>
                  </a:txBody>
                  <a:tcPr marL="91440" marR="91440" marT="45720" marB="45720" anchor="ctr">
                    <a:lnL w="10478">
                      <a:solidFill>
                        <a:srgbClr val="8796A3"/>
                      </a:solidFill>
                      <a:prstDash val="solid"/>
                    </a:lnL>
                    <a:lnR w="10478">
                      <a:solidFill>
                        <a:srgbClr val="8796A3"/>
                      </a:solidFill>
                      <a:prstDash val="solid"/>
                    </a:lnR>
                    <a:lnT w="10478">
                      <a:solidFill>
                        <a:srgbClr val="8796A3"/>
                      </a:solidFill>
                      <a:prstDash val="solid"/>
                    </a:lnT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745A92"/>
                    </a:solidFill>
                  </a:tcPr>
                </a:tc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 anchor="ctr">
                    <a:lnR w="10478">
                      <a:solidFill>
                        <a:srgbClr val="8796A3"/>
                      </a:solidFill>
                      <a:prstDash val="solid"/>
                    </a:lnR>
                    <a:lnT w="10478">
                      <a:solidFill>
                        <a:srgbClr val="8796A3"/>
                      </a:solidFill>
                      <a:prstDash val="solid"/>
                    </a:lnT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745A92"/>
                    </a:solidFill>
                  </a:tcPr>
                </a:tc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Gate</a:t>
                      </a:r>
                    </a:p>
                  </a:txBody>
                  <a:tcPr marL="91440" marR="91440" marT="45720" marB="45720" anchor="ctr">
                    <a:lnR w="10478">
                      <a:solidFill>
                        <a:srgbClr val="8796A3"/>
                      </a:solidFill>
                      <a:prstDash val="solid"/>
                    </a:lnR>
                    <a:lnT w="10478">
                      <a:solidFill>
                        <a:srgbClr val="8796A3"/>
                      </a:solidFill>
                      <a:prstDash val="solid"/>
                    </a:lnT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745A92"/>
                    </a:solidFill>
                  </a:tcPr>
                </a:tc>
              </a:tr>
              <a:tr h="666750"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151A1E"/>
                          </a:solidFill>
                          <a:latin typeface="Arial"/>
                          <a:ea typeface="Arial"/>
                          <a:cs typeface="Arial"/>
                        </a:rPr>
                        <a:t>NEG-E / NEG-A</a:t>
                      </a:r>
                    </a:p>
                  </a:txBody>
                  <a:tcPr marL="91440" marR="91440" marT="45720" marB="45720" anchor="ctr">
                    <a:lnL w="10478">
                      <a:solidFill>
                        <a:srgbClr val="8796A3"/>
                      </a:solidFill>
                      <a:prstDash val="solid"/>
                    </a:lnL>
                    <a:lnR w="10478">
                      <a:solidFill>
                        <a:srgbClr val="8796A3"/>
                      </a:solidFill>
                      <a:prstDash val="solid"/>
                    </a:lnR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151A1E"/>
                          </a:solidFill>
                          <a:latin typeface="Arial"/>
                          <a:ea typeface="Arial"/>
                          <a:cs typeface="Arial"/>
                        </a:rPr>
                        <a:t>negative-price events</a:t>
                      </a:r>
                    </a:p>
                  </a:txBody>
                  <a:tcPr marL="91440" marR="91440" marT="45720" marB="45720" anchor="ctr">
                    <a:lnR w="10478">
                      <a:solidFill>
                        <a:srgbClr val="8796A3"/>
                      </a:solidFill>
                      <a:prstDash val="solid"/>
                    </a:lnR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151A1E"/>
                          </a:solidFill>
                          <a:latin typeface="Arial"/>
                          <a:ea typeface="Arial"/>
                          <a:cs typeface="Arial"/>
                        </a:rPr>
                        <a:t>failed</a:t>
                      </a:r>
                    </a:p>
                  </a:txBody>
                  <a:tcPr marL="91440" marR="91440" marT="45720" marB="45720" anchor="ctr">
                    <a:lnR w="10478">
                      <a:solidFill>
                        <a:srgbClr val="8796A3"/>
                      </a:solidFill>
                      <a:prstDash val="solid"/>
                    </a:lnR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151A1E"/>
                          </a:solidFill>
                          <a:latin typeface="Arial"/>
                          <a:ea typeface="Arial"/>
                          <a:cs typeface="Arial"/>
                        </a:rPr>
                        <a:t>Peak scaling</a:t>
                      </a:r>
                    </a:p>
                  </a:txBody>
                  <a:tcPr marL="91440" marR="91440" marT="45720" marB="45720" anchor="ctr">
                    <a:lnL w="10478">
                      <a:solidFill>
                        <a:srgbClr val="8796A3"/>
                      </a:solidFill>
                      <a:prstDash val="solid"/>
                    </a:lnL>
                    <a:lnR w="10478">
                      <a:solidFill>
                        <a:srgbClr val="8796A3"/>
                      </a:solidFill>
                      <a:prstDash val="solid"/>
                    </a:lnR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51A1E"/>
                          </a:solidFill>
                          <a:latin typeface="Arial"/>
                          <a:ea typeface="Arial"/>
                          <a:cs typeface="Arial"/>
                        </a:rPr>
                        <a:t>restore spike amplitude</a:t>
                      </a:r>
                    </a:p>
                  </a:txBody>
                  <a:tcPr marL="91440" marR="91440" marT="45720" marB="45720" anchor="ctr">
                    <a:lnR w="10478">
                      <a:solidFill>
                        <a:srgbClr val="8796A3"/>
                      </a:solidFill>
                      <a:prstDash val="solid"/>
                    </a:lnR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51A1E"/>
                          </a:solidFill>
                          <a:latin typeface="Arial"/>
                          <a:ea typeface="Arial"/>
                          <a:cs typeface="Arial"/>
                        </a:rPr>
                        <a:t>failed</a:t>
                      </a:r>
                    </a:p>
                  </a:txBody>
                  <a:tcPr marL="91440" marR="91440" marT="45720" marB="45720" anchor="ctr">
                    <a:lnR w="10478">
                      <a:solidFill>
                        <a:srgbClr val="8796A3"/>
                      </a:solidFill>
                      <a:prstDash val="solid"/>
                    </a:lnR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666750"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151A1E"/>
                          </a:solidFill>
                          <a:latin typeface="Arial"/>
                          <a:ea typeface="Arial"/>
                          <a:cs typeface="Arial"/>
                        </a:rPr>
                        <a:t>Probability gates</a:t>
                      </a:r>
                    </a:p>
                  </a:txBody>
                  <a:tcPr marL="91440" marR="91440" marT="45720" marB="45720" anchor="ctr">
                    <a:lnL w="10478">
                      <a:solidFill>
                        <a:srgbClr val="8796A3"/>
                      </a:solidFill>
                      <a:prstDash val="solid"/>
                    </a:lnL>
                    <a:lnR w="10478">
                      <a:solidFill>
                        <a:srgbClr val="8796A3"/>
                      </a:solidFill>
                      <a:prstDash val="solid"/>
                    </a:lnR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51A1E"/>
                          </a:solidFill>
                          <a:latin typeface="Arial"/>
                          <a:ea typeface="Arial"/>
                          <a:cs typeface="Arial"/>
                        </a:rPr>
                        <a:t>predict positive spikes</a:t>
                      </a:r>
                    </a:p>
                  </a:txBody>
                  <a:tcPr marL="91440" marR="91440" marT="45720" marB="45720" anchor="ctr">
                    <a:lnR w="10478">
                      <a:solidFill>
                        <a:srgbClr val="8796A3"/>
                      </a:solidFill>
                      <a:prstDash val="solid"/>
                    </a:lnR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51A1E"/>
                          </a:solidFill>
                          <a:latin typeface="Arial"/>
                          <a:ea typeface="Arial"/>
                          <a:cs typeface="Arial"/>
                        </a:rPr>
                        <a:t>recall 0</a:t>
                      </a:r>
                    </a:p>
                  </a:txBody>
                  <a:tcPr marL="91440" marR="91440" marT="45720" marB="45720" anchor="ctr">
                    <a:lnR w="10478">
                      <a:solidFill>
                        <a:srgbClr val="8796A3"/>
                      </a:solidFill>
                      <a:prstDash val="solid"/>
                    </a:lnR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151A1E"/>
                          </a:solidFill>
                          <a:latin typeface="Arial"/>
                          <a:ea typeface="Arial"/>
                          <a:cs typeface="Arial"/>
                        </a:rPr>
                        <a:t>Beta / GPD</a:t>
                      </a:r>
                    </a:p>
                  </a:txBody>
                  <a:tcPr marL="91440" marR="91440" marT="45720" marB="45720" anchor="ctr">
                    <a:lnL w="10478">
                      <a:solidFill>
                        <a:srgbClr val="8796A3"/>
                      </a:solidFill>
                      <a:prstDash val="solid"/>
                    </a:lnL>
                    <a:lnR w="10478">
                      <a:solidFill>
                        <a:srgbClr val="8796A3"/>
                      </a:solidFill>
                      <a:prstDash val="solid"/>
                    </a:lnR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51A1E"/>
                          </a:solidFill>
                          <a:latin typeface="Arial"/>
                          <a:ea typeface="Arial"/>
                          <a:cs typeface="Arial"/>
                        </a:rPr>
                        <a:t>conditional tail magnitude</a:t>
                      </a:r>
                    </a:p>
                  </a:txBody>
                  <a:tcPr marL="91440" marR="91440" marT="45720" marB="45720" anchor="ctr">
                    <a:lnR w="10478">
                      <a:solidFill>
                        <a:srgbClr val="8796A3"/>
                      </a:solidFill>
                      <a:prstDash val="solid"/>
                    </a:lnR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51A1E"/>
                          </a:solidFill>
                          <a:latin typeface="Arial"/>
                          <a:ea typeface="Arial"/>
                          <a:cs typeface="Arial"/>
                        </a:rPr>
                        <a:t>failed</a:t>
                      </a:r>
                    </a:p>
                  </a:txBody>
                  <a:tcPr marL="91440" marR="91440" marT="45720" marB="45720" anchor="ctr">
                    <a:lnR w="10478">
                      <a:solidFill>
                        <a:srgbClr val="8796A3"/>
                      </a:solidFill>
                      <a:prstDash val="solid"/>
                    </a:lnR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666750"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151A1E"/>
                          </a:solidFill>
                          <a:latin typeface="Arial"/>
                          <a:ea typeface="Arial"/>
                          <a:cs typeface="Arial"/>
                        </a:rPr>
                        <a:t>Chronos-2 heads</a:t>
                      </a:r>
                    </a:p>
                  </a:txBody>
                  <a:tcPr marL="91440" marR="91440" marT="45720" marB="45720" anchor="ctr">
                    <a:lnL w="10478">
                      <a:solidFill>
                        <a:srgbClr val="8796A3"/>
                      </a:solidFill>
                      <a:prstDash val="solid"/>
                    </a:lnL>
                    <a:lnR w="10478">
                      <a:solidFill>
                        <a:srgbClr val="8796A3"/>
                      </a:solidFill>
                      <a:prstDash val="solid"/>
                    </a:lnR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51A1E"/>
                          </a:solidFill>
                          <a:latin typeface="Arial"/>
                          <a:ea typeface="Arial"/>
                          <a:cs typeface="Arial"/>
                        </a:rPr>
                        <a:t>foundation tail adapter</a:t>
                      </a:r>
                    </a:p>
                  </a:txBody>
                  <a:tcPr marL="91440" marR="91440" marT="45720" marB="45720" anchor="ctr">
                    <a:lnR w="10478">
                      <a:solidFill>
                        <a:srgbClr val="8796A3"/>
                      </a:solidFill>
                      <a:prstDash val="solid"/>
                    </a:lnR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51A1E"/>
                          </a:solidFill>
                          <a:latin typeface="Arial"/>
                          <a:ea typeface="Arial"/>
                          <a:cs typeface="Arial"/>
                        </a:rPr>
                        <a:t>failed</a:t>
                      </a:r>
                    </a:p>
                  </a:txBody>
                  <a:tcPr marL="91440" marR="91440" marT="45720" marB="45720" anchor="ctr">
                    <a:lnR w="10478">
                      <a:solidFill>
                        <a:srgbClr val="8796A3"/>
                      </a:solidFill>
                      <a:prstDash val="solid"/>
                    </a:lnR>
                    <a:lnB w="10478">
                      <a:solidFill>
                        <a:srgbClr val="8796A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65" name="routes-caption">
            <a:extLst xmlns:a="http://schemas.openxmlformats.org/drawingml/2006/main">
              <a:ext uri="{FF2B5EF4-FFF2-40B4-BE49-F238E27FC236}">
                <a16:creationId xmlns:a16="http://schemas.microsoft.com/office/drawing/2014/main" id="{4415749F-032E-4E52-86F5-4DEF1B22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870150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Candidates had to pass cross-market, multi-seed and frozen economic gates. Most improvements did not survive all three.</a:t>
            </a:r>
          </a:p>
        </p:txBody>
      </p:sp>
      <p:sp>
        <p:nvSpPr>
          <p:cNvPr id="1266" name="router-analysis-title">
            <a:extLst xmlns:a="http://schemas.openxmlformats.org/drawingml/2006/main">
              <a:ext uri="{FF2B5EF4-FFF2-40B4-BE49-F238E27FC236}">
                <a16:creationId xmlns:a16="http://schemas.microsoft.com/office/drawing/2014/main" id="{DE1C191E-7670-4AD3-910C-12600CEC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3241000"/>
            <a:ext cx="6772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21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8477"/>
                </a:solidFill>
                <a:latin typeface="Arial"/>
                <a:ea typeface="Arial"/>
                <a:cs typeface="Arial"/>
              </a:rPr>
              <a:t>Model complementarity survived</a:t>
            </a:r>
          </a:p>
        </p:txBody>
      </p:sp>
      <p:sp>
        <p:nvSpPr>
          <p:cNvPr id="1267" name="expert-dlinear">
            <a:extLst xmlns:a="http://schemas.openxmlformats.org/drawingml/2006/main">
              <a:ext uri="{FF2B5EF4-FFF2-40B4-BE49-F238E27FC236}">
                <a16:creationId xmlns:a16="http://schemas.microsoft.com/office/drawing/2014/main" id="{F5A11E96-5D79-4B4B-9A61-A1B523A5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23860125"/>
            <a:ext cx="2190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8F6F2"/>
          </a:solidFill>
          <a:ln xmlns:a="http://schemas.openxmlformats.org/drawingml/2006/main" w="15240">
            <a:solidFill>
              <a:srgbClr val="138477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DLinear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DA positions</a:t>
            </a:r>
          </a:p>
        </p:txBody>
      </p:sp>
      <p:sp>
        <p:nvSpPr>
          <p:cNvPr id="1268" name="expert-transformer">
            <a:extLst xmlns:a="http://schemas.openxmlformats.org/drawingml/2006/main">
              <a:ext uri="{FF2B5EF4-FFF2-40B4-BE49-F238E27FC236}">
                <a16:creationId xmlns:a16="http://schemas.microsoft.com/office/drawing/2014/main" id="{626C9083-9203-48B7-9CBF-480CC14F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0" y="23860125"/>
            <a:ext cx="2190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5240">
            <a:solidFill>
              <a:srgbClr val="1769A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Transformer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rolling RT</a:t>
            </a:r>
          </a:p>
        </p:txBody>
      </p:sp>
      <p:sp>
        <p:nvSpPr>
          <p:cNvPr id="1269" name="expert-router">
            <a:extLst xmlns:a="http://schemas.openxmlformats.org/drawingml/2006/main">
              <a:ext uri="{FF2B5EF4-FFF2-40B4-BE49-F238E27FC236}">
                <a16:creationId xmlns:a16="http://schemas.microsoft.com/office/drawing/2014/main" id="{DD21264E-4A26-454A-86D8-31FFB83F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25050750"/>
            <a:ext cx="22860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02A4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depth-2 router</a:t>
            </a:r>
          </a:p>
        </p:txBody>
      </p:sp>
      <p:sp>
        <p:nvSpPr>
          <p:cNvPr id="1272" name="router-result">
            <a:extLst xmlns:a="http://schemas.openxmlformats.org/drawingml/2006/main">
              <a:ext uri="{FF2B5EF4-FFF2-40B4-BE49-F238E27FC236}">
                <a16:creationId xmlns:a16="http://schemas.microsoft.com/office/drawing/2014/main" id="{CAD0855B-05C4-4955-8E6A-FB2369B0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586037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43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43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43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43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43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43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43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43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43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43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4350" b="1">
                <a:solidFill>
                  <a:srgbClr val="13847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38477"/>
                </a:solidFill>
                <a:latin typeface="Arial"/>
                <a:ea typeface="Arial"/>
                <a:cs typeface="Arial"/>
              </a:rPr>
              <a:t>63.53</a:t>
            </a:r>
          </a:p>
        </p:txBody>
      </p:sp>
      <p:sp>
        <p:nvSpPr>
          <p:cNvPr id="1273" name="router-result-caption">
            <a:extLst xmlns:a="http://schemas.openxmlformats.org/drawingml/2006/main">
              <a:ext uri="{FF2B5EF4-FFF2-40B4-BE49-F238E27FC236}">
                <a16:creationId xmlns:a16="http://schemas.microsoft.com/office/drawing/2014/main" id="{53B28A69-55EB-4092-948E-A2FD9626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26555700"/>
            <a:ext cx="61055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51A1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1A1E"/>
                </a:solidFill>
                <a:latin typeface="Arial"/>
                <a:ea typeface="Arial"/>
                <a:cs typeface="Arial"/>
              </a:rPr>
              <a:t>USD/node-day · +1.73 vs static hybrid · 95% CI [−1.24, 4.75]</a:t>
            </a:r>
          </a:p>
        </p:txBody>
      </p:sp>
      <p:sp>
        <p:nvSpPr>
          <p:cNvPr id="1274" name="analysis-claim">
            <a:extLst xmlns:a="http://schemas.openxmlformats.org/drawingml/2006/main">
              <a:ext uri="{FF2B5EF4-FFF2-40B4-BE49-F238E27FC236}">
                <a16:creationId xmlns:a16="http://schemas.microsoft.com/office/drawing/2014/main" id="{06DBC35B-1F9E-4DA2-9299-715555C4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7193875"/>
            <a:ext cx="67722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15240">
            <a:solidFill>
              <a:srgbClr val="C9505A"/>
            </a:solidFill>
            <a:prstDash val="solid"/>
          </a:ln>
        </p:spPr>
      </p:sp>
      <p:sp>
        <p:nvSpPr>
          <p:cNvPr id="1275" name="analysis-claim-text">
            <a:extLst xmlns:a="http://schemas.openxmlformats.org/drawingml/2006/main">
              <a:ext uri="{FF2B5EF4-FFF2-40B4-BE49-F238E27FC236}">
                <a16:creationId xmlns:a16="http://schemas.microsoft.com/office/drawing/2014/main" id="{2E2B1616-8217-4186-86F4-C7F66573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27365325"/>
            <a:ext cx="6429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116"/>
          </a:bodyPr>
          <a:lstStyle xmlns:a="http://schemas.openxmlformats.org/drawingml/2006/main">
            <a:defPPr algn="ctr">
              <a:defRPr sz="165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65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65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65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65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65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65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65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65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65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650" b="1">
                <a:solidFill>
                  <a:srgbClr val="BE3F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E3F4B"/>
                </a:solidFill>
                <a:latin typeface="Arial"/>
                <a:ea typeface="Arial"/>
                <a:cs typeface="Arial"/>
              </a:rPr>
              <a:t>Claim boundary: the router confidence interval crosses zero. Cross-market economic superiority remains unproven until CAISO, NYISO and PJM settlement contracts receive equivalent validation.</a:t>
            </a:r>
          </a:p>
        </p:txBody>
      </p:sp>
      <p:sp>
        <p:nvSpPr>
          <p:cNvPr id="1276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92117CC9-F674-4202-B430-07342528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479750"/>
            <a:ext cx="20345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1277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545B7E92-72A0-4E5E-BE70-3368C127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603575"/>
            <a:ext cx="1476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TAKEAWAY  Forecast accuracy transferred across markets, but economic value remained concentrated in rare price tails.</a:t>
            </a:r>
          </a:p>
        </p:txBody>
      </p:sp>
      <p:sp>
        <p:nvSpPr>
          <p:cNvPr id="1278" name="next-step">
            <a:extLst xmlns:a="http://schemas.openxmlformats.org/drawingml/2006/main">
              <a:ext uri="{FF2B5EF4-FFF2-40B4-BE49-F238E27FC236}">
                <a16:creationId xmlns:a16="http://schemas.microsoft.com/office/drawing/2014/main" id="{15C3D077-16FD-417C-8B57-DBAF79AC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28603575"/>
            <a:ext cx="5381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667"/>
          </a:bodyPr>
          <a:lstStyle xmlns:a="http://schemas.openxmlformats.org/drawingml/2006/main">
            <a:defPPr algn="ctr">
              <a:defRPr sz="1500" b="1">
                <a:solidFill>
                  <a:srgbClr val="B8E6D8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1">
                <a:solidFill>
                  <a:srgbClr val="B8E6D8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1">
                <a:solidFill>
                  <a:srgbClr val="B8E6D8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1">
                <a:solidFill>
                  <a:srgbClr val="B8E6D8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1">
                <a:solidFill>
                  <a:srgbClr val="B8E6D8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1">
                <a:solidFill>
                  <a:srgbClr val="B8E6D8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1">
                <a:solidFill>
                  <a:srgbClr val="B8E6D8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1">
                <a:solidFill>
                  <a:srgbClr val="B8E6D8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1">
                <a:solidFill>
                  <a:srgbClr val="B8E6D8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1">
                <a:solidFill>
                  <a:srgbClr val="B8E6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B8E6D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E6D8"/>
                </a:solidFill>
                <a:latin typeface="Arial"/>
                <a:ea typeface="Arial"/>
                <a:cs typeface="Arial"/>
              </a:rPr>
              <a:t>NEXT  Validate local settlement rules and improve calibrated spike amplitude</a:t>
            </a:r>
          </a:p>
        </p:txBody>
      </p:sp>
      <p:sp>
        <p:nvSpPr>
          <p:cNvPr id="1280" name="s1-flow-0-anchor">
            <a:extLst xmlns:a="http://schemas.openxmlformats.org/drawingml/2006/main">
              <a:ext uri="{FF2B5EF4-FFF2-40B4-BE49-F238E27FC236}">
                <a16:creationId xmlns:a16="http://schemas.microsoft.com/office/drawing/2014/main" id="{18BDAD62-3844-475D-9612-C6372015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7627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81" name="">
            <a:extLst xmlns:a="http://schemas.openxmlformats.org/drawingml/2006/main">
              <a:ext uri="{FF2B5EF4-FFF2-40B4-BE49-F238E27FC236}">
                <a16:creationId xmlns:a16="http://schemas.microsoft.com/office/drawing/2014/main" id="{F0FD6C2D-7E55-4561-8FA6-D6612750380A}"/>
              </a:ext>
            </a:extLst>
          </p:cNvPr>
          <p:cNvCxnSpPr>
            <a:stCxn xmlns:a="http://schemas.openxmlformats.org/drawingml/2006/main" id="1076" idx="2"/>
            <a:endCxn xmlns:a="http://schemas.openxmlformats.org/drawingml/2006/main" id="1280" idx="0"/>
          </p:cNvCxnSpPr>
          <p:nvPr/>
        </p:nvCxnSpPr>
        <p:spPr>
          <a:xfrm xmlns:a="http://schemas.openxmlformats.org/drawingml/2006/main">
            <a:off x="4752975" y="6524625"/>
            <a:ext cx="30480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69AA"/>
            </a:solidFill>
            <a:prstDash val="solid"/>
            <a:tailEnd type="triangle" w="lg" len="lg"/>
          </a:ln>
        </p:spPr>
      </p:cxnSp>
      <p:sp>
        <p:nvSpPr>
          <p:cNvPr id="1282" name="s1-flow-1-anchor">
            <a:extLst xmlns:a="http://schemas.openxmlformats.org/drawingml/2006/main">
              <a:ext uri="{FF2B5EF4-FFF2-40B4-BE49-F238E27FC236}">
                <a16:creationId xmlns:a16="http://schemas.microsoft.com/office/drawing/2014/main" id="{16E80ED8-5B7C-4AD2-BABE-CA102739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7627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83" name="">
            <a:extLst xmlns:a="http://schemas.openxmlformats.org/drawingml/2006/main">
              <a:ext uri="{FF2B5EF4-FFF2-40B4-BE49-F238E27FC236}">
                <a16:creationId xmlns:a16="http://schemas.microsoft.com/office/drawing/2014/main" id="{963717B4-0DB9-4C4C-9C2B-63A6897F3A9F}"/>
              </a:ext>
            </a:extLst>
          </p:cNvPr>
          <p:cNvCxnSpPr>
            <a:stCxn xmlns:a="http://schemas.openxmlformats.org/drawingml/2006/main" id="1077" idx="2"/>
            <a:endCxn xmlns:a="http://schemas.openxmlformats.org/drawingml/2006/main" id="1282" idx="0"/>
          </p:cNvCxnSpPr>
          <p:nvPr/>
        </p:nvCxnSpPr>
        <p:spPr>
          <a:xfrm xmlns:a="http://schemas.openxmlformats.org/drawingml/2006/main">
            <a:off x="5572125" y="65246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69AA"/>
            </a:solidFill>
            <a:prstDash val="solid"/>
            <a:tailEnd type="triangle" w="lg" len="lg"/>
          </a:ln>
        </p:spPr>
      </p:cxnSp>
      <p:sp>
        <p:nvSpPr>
          <p:cNvPr id="1284" name="s1-flow-2-anchor">
            <a:extLst xmlns:a="http://schemas.openxmlformats.org/drawingml/2006/main">
              <a:ext uri="{FF2B5EF4-FFF2-40B4-BE49-F238E27FC236}">
                <a16:creationId xmlns:a16="http://schemas.microsoft.com/office/drawing/2014/main" id="{D73417FF-00A5-4529-897E-3C54A4AA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7627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85" name="">
            <a:extLst xmlns:a="http://schemas.openxmlformats.org/drawingml/2006/main">
              <a:ext uri="{FF2B5EF4-FFF2-40B4-BE49-F238E27FC236}">
                <a16:creationId xmlns:a16="http://schemas.microsoft.com/office/drawing/2014/main" id="{33F3998D-9AC0-4650-B0CA-6540607780E7}"/>
              </a:ext>
            </a:extLst>
          </p:cNvPr>
          <p:cNvCxnSpPr>
            <a:stCxn xmlns:a="http://schemas.openxmlformats.org/drawingml/2006/main" id="1078" idx="2"/>
            <a:endCxn xmlns:a="http://schemas.openxmlformats.org/drawingml/2006/main" id="1284" idx="0"/>
          </p:cNvCxnSpPr>
          <p:nvPr/>
        </p:nvCxnSpPr>
        <p:spPr>
          <a:xfrm xmlns:a="http://schemas.openxmlformats.org/drawingml/2006/main" flipH="1">
            <a:off x="6086475" y="6524625"/>
            <a:ext cx="30480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69AA"/>
            </a:solidFill>
            <a:prstDash val="solid"/>
            <a:tailEnd type="triangle" w="lg" len="lg"/>
          </a:ln>
        </p:spPr>
      </p:cxnSp>
      <p:sp>
        <p:nvSpPr>
          <p:cNvPr id="1286" name="s2-flow-anchor">
            <a:extLst xmlns:a="http://schemas.openxmlformats.org/drawingml/2006/main">
              <a:ext uri="{FF2B5EF4-FFF2-40B4-BE49-F238E27FC236}">
                <a16:creationId xmlns:a16="http://schemas.microsoft.com/office/drawing/2014/main" id="{0C57E53E-D338-4F2F-B716-1C6DF93B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5627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87" name="">
            <a:extLst xmlns:a="http://schemas.openxmlformats.org/drawingml/2006/main">
              <a:ext uri="{FF2B5EF4-FFF2-40B4-BE49-F238E27FC236}">
                <a16:creationId xmlns:a16="http://schemas.microsoft.com/office/drawing/2014/main" id="{2EBE9838-2D44-41A7-96D4-F0FD69D9B269}"/>
              </a:ext>
            </a:extLst>
          </p:cNvPr>
          <p:cNvCxnSpPr>
            <a:stCxn xmlns:a="http://schemas.openxmlformats.org/drawingml/2006/main" id="1089" idx="3"/>
            <a:endCxn xmlns:a="http://schemas.openxmlformats.org/drawingml/2006/main" id="1286" idx="2"/>
          </p:cNvCxnSpPr>
          <p:nvPr/>
        </p:nvCxnSpPr>
        <p:spPr>
          <a:xfrm xmlns:a="http://schemas.openxmlformats.org/drawingml/2006/main">
            <a:off x="9191625" y="6572250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BE3F4B"/>
            </a:solidFill>
            <a:prstDash val="solid"/>
            <a:tailEnd type="triangle" w="lg" len="lg"/>
          </a:ln>
        </p:spPr>
      </p:cxnSp>
      <p:sp>
        <p:nvSpPr>
          <p:cNvPr id="1288" name="s3-flow-0-anchor">
            <a:extLst xmlns:a="http://schemas.openxmlformats.org/drawingml/2006/main">
              <a:ext uri="{FF2B5EF4-FFF2-40B4-BE49-F238E27FC236}">
                <a16:creationId xmlns:a16="http://schemas.microsoft.com/office/drawing/2014/main" id="{92D56F5C-BB46-4178-BE2B-BCFB685D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670560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89" name="">
            <a:extLst xmlns:a="http://schemas.openxmlformats.org/drawingml/2006/main">
              <a:ext uri="{FF2B5EF4-FFF2-40B4-BE49-F238E27FC236}">
                <a16:creationId xmlns:a16="http://schemas.microsoft.com/office/drawing/2014/main" id="{F5C63C5A-855D-4401-B17F-E02F4F09D711}"/>
              </a:ext>
            </a:extLst>
          </p:cNvPr>
          <p:cNvCxnSpPr>
            <a:stCxn xmlns:a="http://schemas.openxmlformats.org/drawingml/2006/main" id="1099" idx="2"/>
            <a:endCxn xmlns:a="http://schemas.openxmlformats.org/drawingml/2006/main" id="1288" idx="0"/>
          </p:cNvCxnSpPr>
          <p:nvPr/>
        </p:nvCxnSpPr>
        <p:spPr>
          <a:xfrm xmlns:a="http://schemas.openxmlformats.org/drawingml/2006/main">
            <a:off x="11420475" y="6448425"/>
            <a:ext cx="34290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38477"/>
            </a:solidFill>
            <a:prstDash val="solid"/>
            <a:tailEnd type="triangle" w="lg" len="lg"/>
          </a:ln>
        </p:spPr>
      </p:cxnSp>
      <p:sp>
        <p:nvSpPr>
          <p:cNvPr id="1290" name="s3-flow-1-anchor">
            <a:extLst xmlns:a="http://schemas.openxmlformats.org/drawingml/2006/main">
              <a:ext uri="{FF2B5EF4-FFF2-40B4-BE49-F238E27FC236}">
                <a16:creationId xmlns:a16="http://schemas.microsoft.com/office/drawing/2014/main" id="{0055C51B-3468-4A37-A08C-34B17E91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70560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91" name="">
            <a:extLst xmlns:a="http://schemas.openxmlformats.org/drawingml/2006/main">
              <a:ext uri="{FF2B5EF4-FFF2-40B4-BE49-F238E27FC236}">
                <a16:creationId xmlns:a16="http://schemas.microsoft.com/office/drawing/2014/main" id="{C0ABF775-F748-4A79-8BA7-03496BFC8C9A}"/>
              </a:ext>
            </a:extLst>
          </p:cNvPr>
          <p:cNvCxnSpPr>
            <a:stCxn xmlns:a="http://schemas.openxmlformats.org/drawingml/2006/main" id="1100" idx="2"/>
            <a:endCxn xmlns:a="http://schemas.openxmlformats.org/drawingml/2006/main" id="1290" idx="0"/>
          </p:cNvCxnSpPr>
          <p:nvPr/>
        </p:nvCxnSpPr>
        <p:spPr>
          <a:xfrm xmlns:a="http://schemas.openxmlformats.org/drawingml/2006/main">
            <a:off x="12068175" y="6448425"/>
            <a:ext cx="11430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38477"/>
            </a:solidFill>
            <a:prstDash val="solid"/>
            <a:tailEnd type="triangle" w="lg" len="lg"/>
          </a:ln>
        </p:spPr>
      </p:cxnSp>
      <p:sp>
        <p:nvSpPr>
          <p:cNvPr id="1292" name="s3-flow-2-anchor">
            <a:extLst xmlns:a="http://schemas.openxmlformats.org/drawingml/2006/main">
              <a:ext uri="{FF2B5EF4-FFF2-40B4-BE49-F238E27FC236}">
                <a16:creationId xmlns:a16="http://schemas.microsoft.com/office/drawing/2014/main" id="{5F213C10-0AA1-49F1-ABF4-908A3589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670560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93" name="">
            <a:extLst xmlns:a="http://schemas.openxmlformats.org/drawingml/2006/main">
              <a:ext uri="{FF2B5EF4-FFF2-40B4-BE49-F238E27FC236}">
                <a16:creationId xmlns:a16="http://schemas.microsoft.com/office/drawing/2014/main" id="{2E4605B1-49FD-459A-8D87-E208F261819E}"/>
              </a:ext>
            </a:extLst>
          </p:cNvPr>
          <p:cNvCxnSpPr>
            <a:stCxn xmlns:a="http://schemas.openxmlformats.org/drawingml/2006/main" id="1101" idx="2"/>
            <a:endCxn xmlns:a="http://schemas.openxmlformats.org/drawingml/2006/main" id="1292" idx="0"/>
          </p:cNvCxnSpPr>
          <p:nvPr/>
        </p:nvCxnSpPr>
        <p:spPr>
          <a:xfrm xmlns:a="http://schemas.openxmlformats.org/drawingml/2006/main" flipH="1">
            <a:off x="12601575" y="6448425"/>
            <a:ext cx="11430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38477"/>
            </a:solidFill>
            <a:prstDash val="solid"/>
            <a:tailEnd type="triangle" w="lg" len="lg"/>
          </a:ln>
        </p:spPr>
      </p:cxnSp>
      <p:sp>
        <p:nvSpPr>
          <p:cNvPr id="1294" name="s3-flow-3-anchor">
            <a:extLst xmlns:a="http://schemas.openxmlformats.org/drawingml/2006/main">
              <a:ext uri="{FF2B5EF4-FFF2-40B4-BE49-F238E27FC236}">
                <a16:creationId xmlns:a16="http://schemas.microsoft.com/office/drawing/2014/main" id="{A9D1A1A1-1C03-4531-9A05-79A8C8E7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670560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95" name="">
            <a:extLst xmlns:a="http://schemas.openxmlformats.org/drawingml/2006/main">
              <a:ext uri="{FF2B5EF4-FFF2-40B4-BE49-F238E27FC236}">
                <a16:creationId xmlns:a16="http://schemas.microsoft.com/office/drawing/2014/main" id="{B324D202-9E6E-4581-9A23-1D9382BB3BA0}"/>
              </a:ext>
            </a:extLst>
          </p:cNvPr>
          <p:cNvCxnSpPr>
            <a:stCxn xmlns:a="http://schemas.openxmlformats.org/drawingml/2006/main" id="1102" idx="2"/>
            <a:endCxn xmlns:a="http://schemas.openxmlformats.org/drawingml/2006/main" id="1294" idx="0"/>
          </p:cNvCxnSpPr>
          <p:nvPr/>
        </p:nvCxnSpPr>
        <p:spPr>
          <a:xfrm xmlns:a="http://schemas.openxmlformats.org/drawingml/2006/main" flipH="1">
            <a:off x="13020675" y="6448425"/>
            <a:ext cx="34290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38477"/>
            </a:solidFill>
            <a:prstDash val="solid"/>
            <a:tailEnd type="triangle" w="lg" len="lg"/>
          </a:ln>
        </p:spPr>
      </p:cxnSp>
      <p:sp>
        <p:nvSpPr>
          <p:cNvPr id="1296" name="router-flow-a-anchor">
            <a:extLst xmlns:a="http://schemas.openxmlformats.org/drawingml/2006/main">
              <a:ext uri="{FF2B5EF4-FFF2-40B4-BE49-F238E27FC236}">
                <a16:creationId xmlns:a16="http://schemas.microsoft.com/office/drawing/2014/main" id="{95CBAA5E-8A82-4191-9401-49E29C9A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35700" y="66389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97" name="">
            <a:extLst xmlns:a="http://schemas.openxmlformats.org/drawingml/2006/main">
              <a:ext uri="{FF2B5EF4-FFF2-40B4-BE49-F238E27FC236}">
                <a16:creationId xmlns:a16="http://schemas.microsoft.com/office/drawing/2014/main" id="{1ED3A502-448A-4EB9-BDA9-5C57597A4E93}"/>
              </a:ext>
            </a:extLst>
          </p:cNvPr>
          <p:cNvCxnSpPr>
            <a:stCxn xmlns:a="http://schemas.openxmlformats.org/drawingml/2006/main" id="1138" idx="2"/>
            <a:endCxn xmlns:a="http://schemas.openxmlformats.org/drawingml/2006/main" id="1296" idx="0"/>
          </p:cNvCxnSpPr>
          <p:nvPr/>
        </p:nvCxnSpPr>
        <p:spPr>
          <a:xfrm xmlns:a="http://schemas.openxmlformats.org/drawingml/2006/main">
            <a:off x="18478500" y="6543675"/>
            <a:ext cx="466725" cy="95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38477"/>
            </a:solidFill>
            <a:prstDash val="solid"/>
            <a:tailEnd type="triangle" w="lg" len="lg"/>
          </a:ln>
        </p:spPr>
      </p:cxnSp>
      <p:sp>
        <p:nvSpPr>
          <p:cNvPr id="1298" name="router-flow-b-anchor">
            <a:extLst xmlns:a="http://schemas.openxmlformats.org/drawingml/2006/main">
              <a:ext uri="{FF2B5EF4-FFF2-40B4-BE49-F238E27FC236}">
                <a16:creationId xmlns:a16="http://schemas.microsoft.com/office/drawing/2014/main" id="{027052A1-AEE2-40E0-8883-EE0BD2E5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9100" y="66389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99" name="">
            <a:extLst xmlns:a="http://schemas.openxmlformats.org/drawingml/2006/main">
              <a:ext uri="{FF2B5EF4-FFF2-40B4-BE49-F238E27FC236}">
                <a16:creationId xmlns:a16="http://schemas.microsoft.com/office/drawing/2014/main" id="{01491AB9-0B21-458A-BC79-2843C3BB90B3}"/>
              </a:ext>
            </a:extLst>
          </p:cNvPr>
          <p:cNvCxnSpPr>
            <a:stCxn xmlns:a="http://schemas.openxmlformats.org/drawingml/2006/main" id="1139" idx="2"/>
            <a:endCxn xmlns:a="http://schemas.openxmlformats.org/drawingml/2006/main" id="1298" idx="0"/>
          </p:cNvCxnSpPr>
          <p:nvPr/>
        </p:nvCxnSpPr>
        <p:spPr>
          <a:xfrm xmlns:a="http://schemas.openxmlformats.org/drawingml/2006/main" flipH="1">
            <a:off x="19478625" y="6543675"/>
            <a:ext cx="466725" cy="95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38477"/>
            </a:solidFill>
            <a:prstDash val="solid"/>
            <a:tailEnd type="triangle" w="lg" len="lg"/>
          </a:ln>
        </p:spPr>
      </p:cxnSp>
      <p:graphicFrame>
        <p:nvGraphicFramePr>
          <p:cNvPr id="1300" name="Chart">
            <a:extLst xmlns:a="http://schemas.openxmlformats.org/drawingml/2006/main">
              <a:ext uri="{FF2B5EF4-FFF2-40B4-BE49-F238E27FC236}">
                <a16:creationId xmlns:a16="http://schemas.microsoft.com/office/drawing/2014/main" id="{3F7B94E1-D693-4A83-A057-5187C26636DD}"/>
              </a:ext>
            </a:extLst>
          </p:cNvPr>
          <p:cNvGraphicFramePr/>
          <p:nvPr/>
        </p:nvGraphicFramePr>
        <p:xfrm>
          <a:off xmlns:a="http://schemas.openxmlformats.org/drawingml/2006/main" x="12287250" y="20173950"/>
          <a:ext xmlns:a="http://schemas.openxmlformats.org/drawingml/2006/main" cx="8582025" cy="2238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19ad25b6d0473e"/>
          </a:graphicData>
        </a:graphic>
      </p:graphicFrame>
      <p:sp>
        <p:nvSpPr>
          <p:cNvPr id="1301" name="tail-chart-kicker">
            <a:extLst xmlns:a="http://schemas.openxmlformats.org/drawingml/2006/main">
              <a:ext uri="{FF2B5EF4-FFF2-40B4-BE49-F238E27FC236}">
                <a16:creationId xmlns:a16="http://schemas.microsoft.com/office/drawing/2014/main" id="{5FD81C0F-90BD-4AE6-A88A-F6BEFA20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5B6770"/>
                </a:solidFill>
              </a:defRPr>
            </a:defPPr>
            <a:lvl1pPr algn="ctr">
              <a:defRPr sz="1200" b="1">
                <a:solidFill>
                  <a:srgbClr val="5B6770"/>
                </a:solidFill>
              </a:defRPr>
            </a:lvl1pPr>
            <a:lvl2pPr algn="ctr">
              <a:defRPr sz="1200" b="1">
                <a:solidFill>
                  <a:srgbClr val="5B6770"/>
                </a:solidFill>
              </a:defRPr>
            </a:lvl2pPr>
            <a:lvl3pPr algn="ctr">
              <a:defRPr sz="1200" b="1">
                <a:solidFill>
                  <a:srgbClr val="5B6770"/>
                </a:solidFill>
              </a:defRPr>
            </a:lvl3pPr>
            <a:lvl4pPr algn="ctr">
              <a:defRPr sz="1200" b="1">
                <a:solidFill>
                  <a:srgbClr val="5B6770"/>
                </a:solidFill>
              </a:defRPr>
            </a:lvl4pPr>
            <a:lvl5pPr algn="ctr">
              <a:defRPr sz="1200" b="1">
                <a:solidFill>
                  <a:srgbClr val="5B6770"/>
                </a:solidFill>
              </a:defRPr>
            </a:lvl5pPr>
            <a:lvl6pPr algn="ctr">
              <a:defRPr sz="1200" b="1">
                <a:solidFill>
                  <a:srgbClr val="5B6770"/>
                </a:solidFill>
              </a:defRPr>
            </a:lvl6pPr>
            <a:lvl7pPr algn="ctr">
              <a:defRPr sz="1200" b="1">
                <a:solidFill>
                  <a:srgbClr val="5B6770"/>
                </a:solidFill>
              </a:defRPr>
            </a:lvl7pPr>
            <a:lvl8pPr algn="ctr">
              <a:defRPr sz="1200" b="1">
                <a:solidFill>
                  <a:srgbClr val="5B6770"/>
                </a:solidFill>
              </a:defRPr>
            </a:lvl8pPr>
            <a:lvl9pPr algn="ctr">
              <a:defRPr sz="1200" b="1">
                <a:solidFill>
                  <a:srgbClr val="5B6770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5B6770"/>
                </a:solidFill>
              </a:defRPr>
            </a:pPr>
            <a:r>
              <a:rPr sz="1200" b="1">
                <a:solidFill>
                  <a:srgbClr val="5B6770"/>
                </a:solidFill>
              </a:rPr>
              <a:t>NORMALIZED EXTREME-SPREAD AMPLITUDE</a:t>
            </a:r>
          </a:p>
        </p:txBody>
      </p:sp>
      <p:graphicFrame>
        <p:nvGraphicFramePr>
          <p:cNvPr id="1302" name="Chart">
            <a:extLst xmlns:a="http://schemas.openxmlformats.org/drawingml/2006/main">
              <a:ext uri="{FF2B5EF4-FFF2-40B4-BE49-F238E27FC236}">
                <a16:creationId xmlns:a16="http://schemas.microsoft.com/office/drawing/2014/main" id="{E7C0D183-04E7-4F66-8190-4A5A24E0DDCF}"/>
              </a:ext>
            </a:extLst>
          </p:cNvPr>
          <p:cNvGraphicFramePr/>
          <p:nvPr/>
        </p:nvGraphicFramePr>
        <p:xfrm>
          <a:off xmlns:a="http://schemas.openxmlformats.org/drawingml/2006/main" x="685800" y="25241250"/>
          <a:ext xmlns:a="http://schemas.openxmlformats.org/drawingml/2006/main" cx="5810250" cy="2047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d3b7a3170441c7"/>
          </a:graphicData>
        </a:graphic>
      </p:graphicFrame>
      <p:sp>
        <p:nvSpPr>
          <p:cNvPr id="1303" name="tail-chart-footnote">
            <a:extLst xmlns:a="http://schemas.openxmlformats.org/drawingml/2006/main">
              <a:ext uri="{FF2B5EF4-FFF2-40B4-BE49-F238E27FC236}">
                <a16:creationId xmlns:a16="http://schemas.microsoft.com/office/drawing/2014/main" id="{78A9B111-2ECC-4872-9680-11AC8050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3177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</a:defRPr>
            </a:defPPr>
            <a:lvl1pPr algn="ctr">
              <a:defRPr sz="1275" b="1">
                <a:solidFill>
                  <a:srgbClr val="102A43"/>
                </a:solidFill>
              </a:defRPr>
            </a:lvl1pPr>
            <a:lvl2pPr algn="ctr">
              <a:defRPr sz="1275" b="1">
                <a:solidFill>
                  <a:srgbClr val="102A43"/>
                </a:solidFill>
              </a:defRPr>
            </a:lvl2pPr>
            <a:lvl3pPr algn="ctr">
              <a:defRPr sz="1275" b="1">
                <a:solidFill>
                  <a:srgbClr val="102A43"/>
                </a:solidFill>
              </a:defRPr>
            </a:lvl3pPr>
            <a:lvl4pPr algn="ctr">
              <a:defRPr sz="1275" b="1">
                <a:solidFill>
                  <a:srgbClr val="102A43"/>
                </a:solidFill>
              </a:defRPr>
            </a:lvl4pPr>
            <a:lvl5pPr algn="ctr">
              <a:defRPr sz="1275" b="1">
                <a:solidFill>
                  <a:srgbClr val="102A43"/>
                </a:solidFill>
              </a:defRPr>
            </a:lvl5pPr>
            <a:lvl6pPr algn="ctr">
              <a:defRPr sz="1275" b="1">
                <a:solidFill>
                  <a:srgbClr val="102A43"/>
                </a:solidFill>
              </a:defRPr>
            </a:lvl6pPr>
            <a:lvl7pPr algn="ctr">
              <a:defRPr sz="1275" b="1">
                <a:solidFill>
                  <a:srgbClr val="102A43"/>
                </a:solidFill>
              </a:defRPr>
            </a:lvl7pPr>
            <a:lvl8pPr algn="ctr">
              <a:defRPr sz="1275" b="1">
                <a:solidFill>
                  <a:srgbClr val="102A43"/>
                </a:solidFill>
              </a:defRPr>
            </a:lvl8pPr>
            <a:lvl9pPr algn="ctr"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Observed extreme spread = 100%  ·  Transformer retained 1.29%</a:t>
            </a:r>
          </a:p>
        </p:txBody>
      </p:sp>
      <p:sp>
        <p:nvSpPr>
          <p:cNvPr id="1304" name="tail-chart-interpretation">
            <a:extLst xmlns:a="http://schemas.openxmlformats.org/drawingml/2006/main">
              <a:ext uri="{FF2B5EF4-FFF2-40B4-BE49-F238E27FC236}">
                <a16:creationId xmlns:a16="http://schemas.microsoft.com/office/drawing/2014/main" id="{701EDBEA-CE43-4DE4-A503-747BF7F9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70125"/>
            <a:ext cx="571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BE3F4B"/>
                </a:solidFill>
              </a:defRPr>
            </a:defPPr>
            <a:lvl1pPr algn="ctr">
              <a:defRPr sz="1350" b="1">
                <a:solidFill>
                  <a:srgbClr val="BE3F4B"/>
                </a:solidFill>
              </a:defRPr>
            </a:lvl1pPr>
            <a:lvl2pPr algn="ctr">
              <a:defRPr sz="1350" b="1">
                <a:solidFill>
                  <a:srgbClr val="BE3F4B"/>
                </a:solidFill>
              </a:defRPr>
            </a:lvl2pPr>
            <a:lvl3pPr algn="ctr">
              <a:defRPr sz="1350" b="1">
                <a:solidFill>
                  <a:srgbClr val="BE3F4B"/>
                </a:solidFill>
              </a:defRPr>
            </a:lvl3pPr>
            <a:lvl4pPr algn="ctr">
              <a:defRPr sz="1350" b="1">
                <a:solidFill>
                  <a:srgbClr val="BE3F4B"/>
                </a:solidFill>
              </a:defRPr>
            </a:lvl4pPr>
            <a:lvl5pPr algn="ctr">
              <a:defRPr sz="1350" b="1">
                <a:solidFill>
                  <a:srgbClr val="BE3F4B"/>
                </a:solidFill>
              </a:defRPr>
            </a:lvl5pPr>
            <a:lvl6pPr algn="ctr">
              <a:defRPr sz="1350" b="1">
                <a:solidFill>
                  <a:srgbClr val="BE3F4B"/>
                </a:solidFill>
              </a:defRPr>
            </a:lvl6pPr>
            <a:lvl7pPr algn="ctr">
              <a:defRPr sz="1350" b="1">
                <a:solidFill>
                  <a:srgbClr val="BE3F4B"/>
                </a:solidFill>
              </a:defRPr>
            </a:lvl7pPr>
            <a:lvl8pPr algn="ctr">
              <a:defRPr sz="1350" b="1">
                <a:solidFill>
                  <a:srgbClr val="BE3F4B"/>
                </a:solidFill>
              </a:defRPr>
            </a:lvl8pPr>
            <a:lvl9pPr algn="ctr">
              <a:defRPr sz="1350" b="1">
                <a:solidFill>
                  <a:srgbClr val="BE3F4B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BE3F4B"/>
                </a:solidFill>
              </a:defRPr>
            </a:pPr>
            <a:r>
              <a:rPr sz="1350" b="1">
                <a:solidFill>
                  <a:srgbClr val="BE3F4B"/>
                </a:solidFill>
              </a:rPr>
              <a:t>Lower average MAE did not preserve the price spikes that drive battery value.</a:t>
            </a:r>
          </a:p>
        </p:txBody>
      </p:sp>
    </p:spTree>
    <p:extLst>
      <p:ext uri="{BB962C8B-B14F-4D97-AF65-F5344CB8AC3E}">
        <p14:creationId xmlns:p14="http://schemas.microsoft.com/office/powerpoint/2010/main" val="278268179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2026-10-22T13:16:07.8950000Z</dcterms:created>
  <dcterms:modified xsi:type="dcterms:W3CDTF">2026-10-22T13:16:07.8950000Z</dcterms:modified>
</coreProperties>
</file>